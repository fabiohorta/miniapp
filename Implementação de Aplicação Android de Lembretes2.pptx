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7B69"/>
    <a:srgbClr val="3F5D76"/>
    <a:srgbClr val="47AB97"/>
    <a:srgbClr val="DCDCAA"/>
    <a:srgbClr val="4F8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0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3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11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" Type="http://schemas.openxmlformats.org/officeDocument/2006/relationships/image" Target="../media/image1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15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62.png"/><Relationship Id="rId18" Type="http://schemas.openxmlformats.org/officeDocument/2006/relationships/image" Target="../media/image66.png"/><Relationship Id="rId3" Type="http://schemas.openxmlformats.org/officeDocument/2006/relationships/image" Target="../media/image1.png"/><Relationship Id="rId21" Type="http://schemas.openxmlformats.org/officeDocument/2006/relationships/image" Target="../media/image69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15.png"/><Relationship Id="rId15" Type="http://schemas.openxmlformats.org/officeDocument/2006/relationships/image" Target="../media/image21.png"/><Relationship Id="rId23" Type="http://schemas.openxmlformats.org/officeDocument/2006/relationships/image" Target="../media/image71.png"/><Relationship Id="rId10" Type="http://schemas.openxmlformats.org/officeDocument/2006/relationships/image" Target="../media/image59.png"/><Relationship Id="rId19" Type="http://schemas.openxmlformats.org/officeDocument/2006/relationships/image" Target="../media/image67.png"/><Relationship Id="rId4" Type="http://schemas.openxmlformats.org/officeDocument/2006/relationships/image" Target="../media/image2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1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2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3.png"/><Relationship Id="rId21" Type="http://schemas.openxmlformats.org/officeDocument/2006/relationships/image" Target="../media/image109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5" Type="http://schemas.openxmlformats.org/officeDocument/2006/relationships/image" Target="../media/image15.png"/><Relationship Id="rId15" Type="http://schemas.openxmlformats.org/officeDocument/2006/relationships/image" Target="../media/image103.png"/><Relationship Id="rId10" Type="http://schemas.openxmlformats.org/officeDocument/2006/relationships/image" Target="../media/image57.png"/><Relationship Id="rId19" Type="http://schemas.openxmlformats.org/officeDocument/2006/relationships/image" Target="../media/image107.png"/><Relationship Id="rId4" Type="http://schemas.openxmlformats.org/officeDocument/2006/relationships/image" Target="../media/image94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.png"/><Relationship Id="rId21" Type="http://schemas.openxmlformats.org/officeDocument/2006/relationships/image" Target="../media/image125.png"/><Relationship Id="rId7" Type="http://schemas.openxmlformats.org/officeDocument/2006/relationships/image" Target="../media/image112.png"/><Relationship Id="rId12" Type="http://schemas.openxmlformats.org/officeDocument/2006/relationships/image" Target="../media/image57.png"/><Relationship Id="rId17" Type="http://schemas.openxmlformats.org/officeDocument/2006/relationships/image" Target="../media/image121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8.png"/><Relationship Id="rId5" Type="http://schemas.openxmlformats.org/officeDocument/2006/relationships/image" Target="../media/image15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10" Type="http://schemas.openxmlformats.org/officeDocument/2006/relationships/image" Target="../media/image115.png"/><Relationship Id="rId19" Type="http://schemas.openxmlformats.org/officeDocument/2006/relationships/image" Target="../media/image123.png"/><Relationship Id="rId4" Type="http://schemas.openxmlformats.org/officeDocument/2006/relationships/image" Target="../media/image2.png"/><Relationship Id="rId9" Type="http://schemas.openxmlformats.org/officeDocument/2006/relationships/image" Target="../media/image114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26" Type="http://schemas.openxmlformats.org/officeDocument/2006/relationships/image" Target="../media/image148.png"/><Relationship Id="rId3" Type="http://schemas.openxmlformats.org/officeDocument/2006/relationships/image" Target="../media/image1.png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24" Type="http://schemas.openxmlformats.org/officeDocument/2006/relationships/image" Target="../media/image147.png"/><Relationship Id="rId5" Type="http://schemas.openxmlformats.org/officeDocument/2006/relationships/image" Target="../media/image15.png"/><Relationship Id="rId15" Type="http://schemas.openxmlformats.org/officeDocument/2006/relationships/image" Target="../media/image138.png"/><Relationship Id="rId23" Type="http://schemas.openxmlformats.org/officeDocument/2006/relationships/image" Target="../media/image146.png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4" Type="http://schemas.openxmlformats.org/officeDocument/2006/relationships/image" Target="../media/image2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7.png"/><Relationship Id="rId18" Type="http://schemas.openxmlformats.org/officeDocument/2006/relationships/image" Target="../media/image160.png"/><Relationship Id="rId3" Type="http://schemas.openxmlformats.org/officeDocument/2006/relationships/image" Target="../media/image149.png"/><Relationship Id="rId21" Type="http://schemas.openxmlformats.org/officeDocument/2006/relationships/image" Target="../media/image163.png"/><Relationship Id="rId7" Type="http://schemas.openxmlformats.org/officeDocument/2006/relationships/image" Target="../media/image152.png"/><Relationship Id="rId12" Type="http://schemas.openxmlformats.org/officeDocument/2006/relationships/image" Target="../media/image156.png"/><Relationship Id="rId17" Type="http://schemas.openxmlformats.org/officeDocument/2006/relationships/image" Target="../media/image159.png"/><Relationship Id="rId25" Type="http://schemas.openxmlformats.org/officeDocument/2006/relationships/image" Target="../media/image16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8.png"/><Relationship Id="rId20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24" Type="http://schemas.openxmlformats.org/officeDocument/2006/relationships/image" Target="../media/image166.png"/><Relationship Id="rId5" Type="http://schemas.openxmlformats.org/officeDocument/2006/relationships/image" Target="../media/image15.png"/><Relationship Id="rId15" Type="http://schemas.openxmlformats.org/officeDocument/2006/relationships/image" Target="../media/image57.png"/><Relationship Id="rId23" Type="http://schemas.openxmlformats.org/officeDocument/2006/relationships/image" Target="../media/image165.png"/><Relationship Id="rId10" Type="http://schemas.openxmlformats.org/officeDocument/2006/relationships/image" Target="../media/image21.png"/><Relationship Id="rId19" Type="http://schemas.openxmlformats.org/officeDocument/2006/relationships/image" Target="../media/image161.png"/><Relationship Id="rId4" Type="http://schemas.openxmlformats.org/officeDocument/2006/relationships/image" Target="../media/image150.png"/><Relationship Id="rId9" Type="http://schemas.openxmlformats.org/officeDocument/2006/relationships/image" Target="../media/image154.png"/><Relationship Id="rId14" Type="http://schemas.openxmlformats.org/officeDocument/2006/relationships/image" Target="../media/image11.png"/><Relationship Id="rId22" Type="http://schemas.openxmlformats.org/officeDocument/2006/relationships/image" Target="../media/image1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4.png"/><Relationship Id="rId3" Type="http://schemas.openxmlformats.org/officeDocument/2006/relationships/image" Target="../media/image168.png"/><Relationship Id="rId7" Type="http://schemas.openxmlformats.org/officeDocument/2006/relationships/image" Target="../media/image171.png"/><Relationship Id="rId12" Type="http://schemas.openxmlformats.org/officeDocument/2006/relationships/image" Target="../media/image11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173.png"/><Relationship Id="rId5" Type="http://schemas.openxmlformats.org/officeDocument/2006/relationships/image" Target="../media/image170.png"/><Relationship Id="rId15" Type="http://schemas.openxmlformats.org/officeDocument/2006/relationships/image" Target="../media/image176.png"/><Relationship Id="rId10" Type="http://schemas.openxmlformats.org/officeDocument/2006/relationships/image" Target="../media/image123.png"/><Relationship Id="rId4" Type="http://schemas.openxmlformats.org/officeDocument/2006/relationships/image" Target="../media/image169.png"/><Relationship Id="rId9" Type="http://schemas.openxmlformats.org/officeDocument/2006/relationships/image" Target="../media/image31.png"/><Relationship Id="rId14" Type="http://schemas.openxmlformats.org/officeDocument/2006/relationships/image" Target="../media/image1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80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5.png"/><Relationship Id="rId15" Type="http://schemas.openxmlformats.org/officeDocument/2006/relationships/image" Target="../media/image186.png"/><Relationship Id="rId10" Type="http://schemas.openxmlformats.org/officeDocument/2006/relationships/image" Target="../media/image183.png"/><Relationship Id="rId4" Type="http://schemas.openxmlformats.org/officeDocument/2006/relationships/image" Target="../media/image2.png"/><Relationship Id="rId9" Type="http://schemas.openxmlformats.org/officeDocument/2006/relationships/image" Target="../media/image182.png"/><Relationship Id="rId14" Type="http://schemas.openxmlformats.org/officeDocument/2006/relationships/image" Target="../media/image18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2.png"/><Relationship Id="rId18" Type="http://schemas.openxmlformats.org/officeDocument/2006/relationships/image" Target="../media/image122.png"/><Relationship Id="rId26" Type="http://schemas.openxmlformats.org/officeDocument/2006/relationships/image" Target="../media/image201.png"/><Relationship Id="rId3" Type="http://schemas.openxmlformats.org/officeDocument/2006/relationships/image" Target="../media/image1.png"/><Relationship Id="rId21" Type="http://schemas.openxmlformats.org/officeDocument/2006/relationships/image" Target="../media/image11.png"/><Relationship Id="rId7" Type="http://schemas.openxmlformats.org/officeDocument/2006/relationships/image" Target="../media/image188.png"/><Relationship Id="rId12" Type="http://schemas.openxmlformats.org/officeDocument/2006/relationships/image" Target="../media/image29.png"/><Relationship Id="rId17" Type="http://schemas.openxmlformats.org/officeDocument/2006/relationships/image" Target="../media/image195.png"/><Relationship Id="rId25" Type="http://schemas.openxmlformats.org/officeDocument/2006/relationships/image" Target="../media/image20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4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1.png"/><Relationship Id="rId24" Type="http://schemas.openxmlformats.org/officeDocument/2006/relationships/image" Target="../media/image199.png"/><Relationship Id="rId5" Type="http://schemas.openxmlformats.org/officeDocument/2006/relationships/image" Target="../media/image15.png"/><Relationship Id="rId15" Type="http://schemas.openxmlformats.org/officeDocument/2006/relationships/image" Target="../media/image31.png"/><Relationship Id="rId23" Type="http://schemas.openxmlformats.org/officeDocument/2006/relationships/image" Target="../media/image57.png"/><Relationship Id="rId10" Type="http://schemas.openxmlformats.org/officeDocument/2006/relationships/image" Target="../media/image190.png"/><Relationship Id="rId19" Type="http://schemas.openxmlformats.org/officeDocument/2006/relationships/image" Target="../media/image196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193.png"/><Relationship Id="rId22" Type="http://schemas.openxmlformats.org/officeDocument/2006/relationships/image" Target="../media/image198.png"/><Relationship Id="rId27" Type="http://schemas.openxmlformats.org/officeDocument/2006/relationships/image" Target="../media/image2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26" Type="http://schemas.openxmlformats.org/officeDocument/2006/relationships/image" Target="../media/image224.png"/><Relationship Id="rId3" Type="http://schemas.openxmlformats.org/officeDocument/2006/relationships/image" Target="../media/image203.png"/><Relationship Id="rId21" Type="http://schemas.openxmlformats.org/officeDocument/2006/relationships/image" Target="../media/image219.png"/><Relationship Id="rId7" Type="http://schemas.openxmlformats.org/officeDocument/2006/relationships/image" Target="../media/image206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11" Type="http://schemas.openxmlformats.org/officeDocument/2006/relationships/image" Target="../media/image209.png"/><Relationship Id="rId24" Type="http://schemas.openxmlformats.org/officeDocument/2006/relationships/image" Target="../media/image222.png"/><Relationship Id="rId5" Type="http://schemas.openxmlformats.org/officeDocument/2006/relationships/image" Target="../media/image15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204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png"/><Relationship Id="rId18" Type="http://schemas.openxmlformats.org/officeDocument/2006/relationships/image" Target="../media/image235.png"/><Relationship Id="rId26" Type="http://schemas.openxmlformats.org/officeDocument/2006/relationships/image" Target="../media/image241.png"/><Relationship Id="rId3" Type="http://schemas.openxmlformats.org/officeDocument/2006/relationships/image" Target="../media/image1.png"/><Relationship Id="rId21" Type="http://schemas.openxmlformats.org/officeDocument/2006/relationships/image" Target="../media/image238.png"/><Relationship Id="rId34" Type="http://schemas.openxmlformats.org/officeDocument/2006/relationships/image" Target="../media/image248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17" Type="http://schemas.openxmlformats.org/officeDocument/2006/relationships/image" Target="../media/image234.png"/><Relationship Id="rId25" Type="http://schemas.openxmlformats.org/officeDocument/2006/relationships/image" Target="../media/image11.png"/><Relationship Id="rId33" Type="http://schemas.openxmlformats.org/officeDocument/2006/relationships/image" Target="../media/image15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2.png"/><Relationship Id="rId20" Type="http://schemas.openxmlformats.org/officeDocument/2006/relationships/image" Target="../media/image237.png"/><Relationship Id="rId29" Type="http://schemas.openxmlformats.org/officeDocument/2006/relationships/image" Target="../media/image2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24" Type="http://schemas.openxmlformats.org/officeDocument/2006/relationships/image" Target="../media/image209.png"/><Relationship Id="rId32" Type="http://schemas.openxmlformats.org/officeDocument/2006/relationships/image" Target="../media/image247.png"/><Relationship Id="rId5" Type="http://schemas.openxmlformats.org/officeDocument/2006/relationships/image" Target="../media/image15.png"/><Relationship Id="rId15" Type="http://schemas.openxmlformats.org/officeDocument/2006/relationships/image" Target="../media/image233.png"/><Relationship Id="rId23" Type="http://schemas.openxmlformats.org/officeDocument/2006/relationships/image" Target="../media/image240.png"/><Relationship Id="rId28" Type="http://schemas.openxmlformats.org/officeDocument/2006/relationships/image" Target="../media/image243.png"/><Relationship Id="rId10" Type="http://schemas.openxmlformats.org/officeDocument/2006/relationships/image" Target="../media/image229.png"/><Relationship Id="rId19" Type="http://schemas.openxmlformats.org/officeDocument/2006/relationships/image" Target="../media/image236.png"/><Relationship Id="rId31" Type="http://schemas.openxmlformats.org/officeDocument/2006/relationships/image" Target="../media/image246.png"/><Relationship Id="rId4" Type="http://schemas.openxmlformats.org/officeDocument/2006/relationships/image" Target="../media/image2.png"/><Relationship Id="rId9" Type="http://schemas.openxmlformats.org/officeDocument/2006/relationships/image" Target="../media/image228.png"/><Relationship Id="rId14" Type="http://schemas.openxmlformats.org/officeDocument/2006/relationships/image" Target="../media/image232.png"/><Relationship Id="rId22" Type="http://schemas.openxmlformats.org/officeDocument/2006/relationships/image" Target="../media/image239.png"/><Relationship Id="rId27" Type="http://schemas.openxmlformats.org/officeDocument/2006/relationships/image" Target="../media/image242.png"/><Relationship Id="rId30" Type="http://schemas.openxmlformats.org/officeDocument/2006/relationships/image" Target="../media/image245.png"/><Relationship Id="rId35" Type="http://schemas.openxmlformats.org/officeDocument/2006/relationships/image" Target="../media/image249.png"/><Relationship Id="rId8" Type="http://schemas.openxmlformats.org/officeDocument/2006/relationships/image" Target="../media/image22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257.png"/><Relationship Id="rId26" Type="http://schemas.openxmlformats.org/officeDocument/2006/relationships/image" Target="../media/image57.png"/><Relationship Id="rId3" Type="http://schemas.openxmlformats.org/officeDocument/2006/relationships/image" Target="../media/image1.png"/><Relationship Id="rId21" Type="http://schemas.openxmlformats.org/officeDocument/2006/relationships/image" Target="../media/image259.png"/><Relationship Id="rId7" Type="http://schemas.openxmlformats.org/officeDocument/2006/relationships/image" Target="../media/image251.png"/><Relationship Id="rId12" Type="http://schemas.openxmlformats.org/officeDocument/2006/relationships/image" Target="../media/image253.png"/><Relationship Id="rId17" Type="http://schemas.openxmlformats.org/officeDocument/2006/relationships/image" Target="../media/image256.png"/><Relationship Id="rId25" Type="http://schemas.openxmlformats.org/officeDocument/2006/relationships/image" Target="../media/image263.png"/><Relationship Id="rId33" Type="http://schemas.openxmlformats.org/officeDocument/2006/relationships/image" Target="../media/image27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55.png"/><Relationship Id="rId20" Type="http://schemas.openxmlformats.org/officeDocument/2006/relationships/image" Target="../media/image154.png"/><Relationship Id="rId29" Type="http://schemas.openxmlformats.org/officeDocument/2006/relationships/image" Target="../media/image2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11" Type="http://schemas.openxmlformats.org/officeDocument/2006/relationships/image" Target="../media/image31.png"/><Relationship Id="rId24" Type="http://schemas.openxmlformats.org/officeDocument/2006/relationships/image" Target="../media/image262.png"/><Relationship Id="rId32" Type="http://schemas.openxmlformats.org/officeDocument/2006/relationships/image" Target="../media/image269.png"/><Relationship Id="rId5" Type="http://schemas.openxmlformats.org/officeDocument/2006/relationships/image" Target="../media/image15.png"/><Relationship Id="rId15" Type="http://schemas.openxmlformats.org/officeDocument/2006/relationships/image" Target="../media/image254.png"/><Relationship Id="rId23" Type="http://schemas.openxmlformats.org/officeDocument/2006/relationships/image" Target="../media/image261.png"/><Relationship Id="rId28" Type="http://schemas.openxmlformats.org/officeDocument/2006/relationships/image" Target="../media/image265.png"/><Relationship Id="rId10" Type="http://schemas.openxmlformats.org/officeDocument/2006/relationships/image" Target="../media/image252.png"/><Relationship Id="rId19" Type="http://schemas.openxmlformats.org/officeDocument/2006/relationships/image" Target="../media/image258.png"/><Relationship Id="rId31" Type="http://schemas.openxmlformats.org/officeDocument/2006/relationships/image" Target="../media/image268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122.png"/><Relationship Id="rId22" Type="http://schemas.openxmlformats.org/officeDocument/2006/relationships/image" Target="../media/image260.png"/><Relationship Id="rId27" Type="http://schemas.openxmlformats.org/officeDocument/2006/relationships/image" Target="../media/image264.png"/><Relationship Id="rId30" Type="http://schemas.openxmlformats.org/officeDocument/2006/relationships/image" Target="../media/image267.png"/><Relationship Id="rId8" Type="http://schemas.openxmlformats.org/officeDocument/2006/relationships/image" Target="../media/image1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810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10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810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3350" y="38100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667000"/>
            <a:ext cx="9144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600" y="3619500"/>
            <a:ext cx="6400800" cy="1562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5905500"/>
            <a:ext cx="2857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603885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611505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06200" y="6400800"/>
            <a:ext cx="76200" cy="76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20500" y="6400800"/>
            <a:ext cx="76200" cy="76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34800" y="6400800"/>
            <a:ext cx="762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62000" y="1295400"/>
            <a:ext cx="106680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Implementação de Aplicação Android de Lembretes</a:t>
            </a:r>
            <a:endParaRPr lang="en-US" sz="4500" dirty="0"/>
          </a:p>
        </p:txBody>
      </p:sp>
      <p:sp>
        <p:nvSpPr>
          <p:cNvPr id="17" name="Text 1"/>
          <p:cNvSpPr/>
          <p:nvPr/>
        </p:nvSpPr>
        <p:spPr>
          <a:xfrm>
            <a:off x="-304800" y="2933700"/>
            <a:ext cx="1280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backend com notificações agendadas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3044800" y="3810000"/>
            <a:ext cx="49559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 }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3368606" y="3829050"/>
            <a:ext cx="2937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· Notificações · Android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3086100" y="4191000"/>
            <a:ext cx="6019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AlarmManager </a:t>
            </a:r>
            <a:r>
              <a:rPr lang="en-US" sz="1350" dirty="0">
                <a:solidFill>
                  <a:srgbClr val="3DDC8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setExactAndAllowWhileIdle</a:t>
            </a:r>
            <a:r>
              <a:rPr lang="en-US" sz="13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
  RTC_WAKEUP, triggerTimeMillis, pendingIntent
);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914400" y="6019800"/>
            <a:ext cx="20459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Lembrete de visita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914400" y="6210300"/>
            <a:ext cx="20459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Está na hora da visita agendada!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715000" cy="523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20967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638300"/>
            <a:ext cx="548640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790700"/>
            <a:ext cx="91440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9335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1675" y="19812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0" y="1790700"/>
            <a:ext cx="914400" cy="647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6575" y="1933575"/>
            <a:ext cx="952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5275" y="19812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1855470"/>
            <a:ext cx="731520" cy="51816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200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543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8862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229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648200"/>
            <a:ext cx="548640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209675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1638300"/>
            <a:ext cx="5486400" cy="1066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1790700"/>
            <a:ext cx="1209675" cy="762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96113" y="1933575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00975" y="1790700"/>
            <a:ext cx="1209675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29613" y="19335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24950" y="1790700"/>
            <a:ext cx="1209675" cy="762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63113" y="1933575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8925" y="1790700"/>
            <a:ext cx="1209675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29718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3147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6576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40005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419600"/>
            <a:ext cx="5486400" cy="7620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Problemática e Necessidade de Backend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68580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Instabilidade das Activities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579120" y="2133600"/>
            <a:ext cx="822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</a:t>
            </a:r>
            <a:endParaRPr lang="en-US" sz="1050" dirty="0"/>
          </a:p>
        </p:txBody>
      </p:sp>
      <p:sp>
        <p:nvSpPr>
          <p:cNvPr id="37" name="Text 3"/>
          <p:cNvSpPr/>
          <p:nvPr/>
        </p:nvSpPr>
        <p:spPr>
          <a:xfrm>
            <a:off x="2712720" y="2133600"/>
            <a:ext cx="822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Paused</a:t>
            </a:r>
            <a:endParaRPr lang="en-US" sz="1050" dirty="0"/>
          </a:p>
        </p:txBody>
      </p:sp>
      <p:sp>
        <p:nvSpPr>
          <p:cNvPr id="38" name="Text 4"/>
          <p:cNvSpPr/>
          <p:nvPr/>
        </p:nvSpPr>
        <p:spPr>
          <a:xfrm>
            <a:off x="4928616" y="2129790"/>
            <a:ext cx="65836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Destroyed</a:t>
            </a:r>
            <a:endParaRPr lang="en-US" sz="840" dirty="0"/>
          </a:p>
        </p:txBody>
      </p:sp>
      <p:sp>
        <p:nvSpPr>
          <p:cNvPr id="39" name="Text 5"/>
          <p:cNvSpPr/>
          <p:nvPr/>
        </p:nvSpPr>
        <p:spPr>
          <a:xfrm>
            <a:off x="15240" y="259080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ciclo de vida das Activities é controlado pelo sistema, não por nós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609600" y="3162300"/>
            <a:ext cx="4023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pode ser destruída quando o utilizador sai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609600" y="3505200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pode ser recriada se rodarmos o ecrã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609600" y="38481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pode ser limpa se outra app precisar de memória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609600" y="4191000"/>
            <a:ext cx="4823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Confiar numa Activity para agendar notificações é arriscado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533400" y="48006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"Se eu deixar dentro da Activity um 'daqui a 30 minutos mostra uma notificação', estou a confiar num componente que pode desaparecer antes desses 30 minutos."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662940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Componentes de Backend Estáveis</a:t>
            </a:r>
            <a:endParaRPr lang="en-US" sz="1800" dirty="0"/>
          </a:p>
        </p:txBody>
      </p:sp>
      <p:sp>
        <p:nvSpPr>
          <p:cNvPr id="46" name="Text 12"/>
          <p:cNvSpPr/>
          <p:nvPr/>
        </p:nvSpPr>
        <p:spPr>
          <a:xfrm>
            <a:off x="6493193" y="21336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900" dirty="0"/>
          </a:p>
        </p:txBody>
      </p:sp>
      <p:sp>
        <p:nvSpPr>
          <p:cNvPr id="47" name="Text 13"/>
          <p:cNvSpPr/>
          <p:nvPr/>
        </p:nvSpPr>
        <p:spPr>
          <a:xfrm>
            <a:off x="6493193" y="22860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 de entrada</a:t>
            </a:r>
            <a:endParaRPr lang="en-US" sz="900" dirty="0"/>
          </a:p>
        </p:txBody>
      </p:sp>
      <p:sp>
        <p:nvSpPr>
          <p:cNvPr id="48" name="Text 14"/>
          <p:cNvSpPr/>
          <p:nvPr/>
        </p:nvSpPr>
        <p:spPr>
          <a:xfrm>
            <a:off x="7915275" y="2133600"/>
            <a:ext cx="9810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</a:t>
            </a:r>
            <a:endParaRPr lang="en-US" sz="900" dirty="0"/>
          </a:p>
        </p:txBody>
      </p:sp>
      <p:sp>
        <p:nvSpPr>
          <p:cNvPr id="49" name="Text 15"/>
          <p:cNvSpPr/>
          <p:nvPr/>
        </p:nvSpPr>
        <p:spPr>
          <a:xfrm>
            <a:off x="7817168" y="22860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Agendamento</a:t>
            </a:r>
            <a:endParaRPr lang="en-US" sz="900" dirty="0"/>
          </a:p>
        </p:txBody>
      </p:sp>
      <p:sp>
        <p:nvSpPr>
          <p:cNvPr id="50" name="Text 16"/>
          <p:cNvSpPr/>
          <p:nvPr/>
        </p:nvSpPr>
        <p:spPr>
          <a:xfrm>
            <a:off x="9141143" y="21336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</a:t>
            </a:r>
            <a:endParaRPr lang="en-US" sz="900" dirty="0"/>
          </a:p>
        </p:txBody>
      </p:sp>
      <p:sp>
        <p:nvSpPr>
          <p:cNvPr id="51" name="Text 17"/>
          <p:cNvSpPr/>
          <p:nvPr/>
        </p:nvSpPr>
        <p:spPr>
          <a:xfrm>
            <a:off x="9141143" y="22860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900" dirty="0"/>
          </a:p>
        </p:txBody>
      </p:sp>
      <p:sp>
        <p:nvSpPr>
          <p:cNvPr id="52" name="Text 18"/>
          <p:cNvSpPr/>
          <p:nvPr/>
        </p:nvSpPr>
        <p:spPr>
          <a:xfrm>
            <a:off x="10465118" y="21336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3" name="Text 19"/>
          <p:cNvSpPr/>
          <p:nvPr/>
        </p:nvSpPr>
        <p:spPr>
          <a:xfrm>
            <a:off x="10465118" y="2286000"/>
            <a:ext cx="11772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Configuração</a:t>
            </a:r>
            <a:endParaRPr lang="en-US" sz="900" dirty="0"/>
          </a:p>
        </p:txBody>
      </p:sp>
      <p:sp>
        <p:nvSpPr>
          <p:cNvPr id="54" name="Text 20"/>
          <p:cNvSpPr/>
          <p:nvPr/>
        </p:nvSpPr>
        <p:spPr>
          <a:xfrm>
            <a:off x="6553200" y="2933700"/>
            <a:ext cx="5429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Componentes de backend que o Android consegue acordar sozinho</a:t>
            </a:r>
            <a:endParaRPr lang="en-US" sz="1200" dirty="0"/>
          </a:p>
        </p:txBody>
      </p:sp>
      <p:sp>
        <p:nvSpPr>
          <p:cNvPr id="55" name="Text 21"/>
          <p:cNvSpPr/>
          <p:nvPr/>
        </p:nvSpPr>
        <p:spPr>
          <a:xfrm>
            <a:off x="6553200" y="3276600"/>
            <a:ext cx="4663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vive o tempo suficiente para fazer o agendamento</a:t>
            </a:r>
            <a:endParaRPr lang="en-US" sz="1200" dirty="0"/>
          </a:p>
        </p:txBody>
      </p:sp>
      <p:sp>
        <p:nvSpPr>
          <p:cNvPr id="56" name="Text 22"/>
          <p:cNvSpPr/>
          <p:nvPr/>
        </p:nvSpPr>
        <p:spPr>
          <a:xfrm>
            <a:off x="6553200" y="3619500"/>
            <a:ext cx="4491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BroadcastReceiver vive apenas para reagir no momento</a:t>
            </a:r>
            <a:endParaRPr lang="en-US" sz="1200" dirty="0"/>
          </a:p>
        </p:txBody>
      </p:sp>
      <p:sp>
        <p:nvSpPr>
          <p:cNvPr id="57" name="Text 23"/>
          <p:cNvSpPr/>
          <p:nvPr/>
        </p:nvSpPr>
        <p:spPr>
          <a:xfrm>
            <a:off x="6553200" y="3962400"/>
            <a:ext cx="4983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vive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enquanto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app viver, garantindo setup inicial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6477000" y="457200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Princípio da Responsabilidade Única: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Activity fala com o utilizador, o Service agenda, o Receiver reage, e a Application configura.</a:t>
            </a:r>
            <a:endParaRPr lang="en-US" sz="1200" dirty="0"/>
          </a:p>
        </p:txBody>
      </p:sp>
      <p:sp>
        <p:nvSpPr>
          <p:cNvPr id="59" name="Text 25"/>
          <p:cNvSpPr/>
          <p:nvPr/>
        </p:nvSpPr>
        <p:spPr>
          <a:xfrm>
            <a:off x="11382375" y="664845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2/15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95450"/>
            <a:ext cx="2286000" cy="2552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184785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075" y="1981200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25755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48615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71475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94335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9512" y="272415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2050" y="1695450"/>
            <a:ext cx="2286000" cy="2552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0" y="18478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2175" y="19812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32575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348615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371475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39433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1513" y="272415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0" y="1600200"/>
            <a:ext cx="2286000" cy="2743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3200" y="1752600"/>
            <a:ext cx="6096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4175" y="1885950"/>
            <a:ext cx="2476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7400" y="31623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7400" y="35814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7400" y="38100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7400" y="403860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4648200"/>
            <a:ext cx="11430000" cy="1066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4953000"/>
            <a:ext cx="435322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81212" y="5943600"/>
            <a:ext cx="8029575" cy="495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95513" y="6057900"/>
            <a:ext cx="238125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14838" y="6057900"/>
            <a:ext cx="190500" cy="2667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34163" y="6057900"/>
            <a:ext cx="17145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58213" y="6057900"/>
            <a:ext cx="171450" cy="2667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da Aplicação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-762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Divisão clara em quatro peças muito bem definidas, cada uma com a sua responsabilidade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335280" y="2571750"/>
            <a:ext cx="2377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500" dirty="0"/>
          </a:p>
        </p:txBody>
      </p:sp>
      <p:sp>
        <p:nvSpPr>
          <p:cNvPr id="38" name="Text 3"/>
          <p:cNvSpPr/>
          <p:nvPr/>
        </p:nvSpPr>
        <p:spPr>
          <a:xfrm>
            <a:off x="335280" y="2914650"/>
            <a:ext cx="2377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 de Entrada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723900" y="3219450"/>
            <a:ext cx="1908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 dados do utilizador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723900" y="3448050"/>
            <a:ext cx="1394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Escolhe o momento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723900" y="3676650"/>
            <a:ext cx="1543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Carrega em "agendar"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723900" y="3905250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fica a contar tempo</a:t>
            </a:r>
            <a:endParaRPr lang="en-US" sz="1050" dirty="0"/>
          </a:p>
        </p:txBody>
      </p:sp>
      <p:sp>
        <p:nvSpPr>
          <p:cNvPr id="43" name="Text 8"/>
          <p:cNvSpPr/>
          <p:nvPr/>
        </p:nvSpPr>
        <p:spPr>
          <a:xfrm>
            <a:off x="3600450" y="3067050"/>
            <a:ext cx="5257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Agendar</a:t>
            </a:r>
            <a:endParaRPr lang="en-US" sz="900" dirty="0"/>
          </a:p>
        </p:txBody>
      </p:sp>
      <p:sp>
        <p:nvSpPr>
          <p:cNvPr id="44" name="Text 9"/>
          <p:cNvSpPr/>
          <p:nvPr/>
        </p:nvSpPr>
        <p:spPr>
          <a:xfrm>
            <a:off x="4926330" y="2571750"/>
            <a:ext cx="2377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VisitSchedulerService</a:t>
            </a:r>
            <a:endParaRPr lang="en-US" sz="1500" dirty="0"/>
          </a:p>
        </p:txBody>
      </p:sp>
      <p:sp>
        <p:nvSpPr>
          <p:cNvPr id="45" name="Text 10"/>
          <p:cNvSpPr/>
          <p:nvPr/>
        </p:nvSpPr>
        <p:spPr>
          <a:xfrm>
            <a:off x="5124450" y="2914650"/>
            <a:ext cx="1981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5314950" y="3219450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Pega nos dados da Activity</a:t>
            </a:r>
            <a:endParaRPr lang="en-US" sz="1050" dirty="0"/>
          </a:p>
        </p:txBody>
      </p:sp>
      <p:sp>
        <p:nvSpPr>
          <p:cNvPr id="47" name="Text 12"/>
          <p:cNvSpPr/>
          <p:nvPr/>
        </p:nvSpPr>
        <p:spPr>
          <a:xfrm>
            <a:off x="5314950" y="3448050"/>
            <a:ext cx="2000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Regista o alarme no Android</a:t>
            </a:r>
            <a:endParaRPr lang="en-US" sz="1050" dirty="0"/>
          </a:p>
        </p:txBody>
      </p:sp>
      <p:sp>
        <p:nvSpPr>
          <p:cNvPr id="48" name="Text 13"/>
          <p:cNvSpPr/>
          <p:nvPr/>
        </p:nvSpPr>
        <p:spPr>
          <a:xfrm>
            <a:off x="5314950" y="3676650"/>
            <a:ext cx="1771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Constroi a PendingIntent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5314950" y="3905250"/>
            <a:ext cx="20459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Garante agendamento exato</a:t>
            </a:r>
            <a:endParaRPr lang="en-US" sz="1050" dirty="0"/>
          </a:p>
        </p:txBody>
      </p:sp>
      <p:sp>
        <p:nvSpPr>
          <p:cNvPr id="50" name="Text 15"/>
          <p:cNvSpPr/>
          <p:nvPr/>
        </p:nvSpPr>
        <p:spPr>
          <a:xfrm>
            <a:off x="8191500" y="3067050"/>
            <a:ext cx="480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Disparo</a:t>
            </a:r>
            <a:endParaRPr lang="en-US" sz="900" dirty="0"/>
          </a:p>
        </p:txBody>
      </p:sp>
      <p:sp>
        <p:nvSpPr>
          <p:cNvPr id="51" name="Text 16"/>
          <p:cNvSpPr/>
          <p:nvPr/>
        </p:nvSpPr>
        <p:spPr>
          <a:xfrm>
            <a:off x="9479280" y="2476500"/>
            <a:ext cx="2377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VisitReminderReceiver</a:t>
            </a:r>
            <a:endParaRPr lang="en-US" sz="1500" dirty="0"/>
          </a:p>
        </p:txBody>
      </p:sp>
      <p:sp>
        <p:nvSpPr>
          <p:cNvPr id="52" name="Text 17"/>
          <p:cNvSpPr/>
          <p:nvPr/>
        </p:nvSpPr>
        <p:spPr>
          <a:xfrm>
            <a:off x="9677400" y="2819400"/>
            <a:ext cx="1981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9867900" y="3124200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 notificação do Android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9867900" y="3543300"/>
            <a:ext cx="1565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Constrói a notificação</a:t>
            </a:r>
            <a:endParaRPr lang="en-US" sz="1050" dirty="0"/>
          </a:p>
        </p:txBody>
      </p:sp>
      <p:sp>
        <p:nvSpPr>
          <p:cNvPr id="55" name="Text 20"/>
          <p:cNvSpPr/>
          <p:nvPr/>
        </p:nvSpPr>
        <p:spPr>
          <a:xfrm>
            <a:off x="9867900" y="3771900"/>
            <a:ext cx="1908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canal de notificação</a:t>
            </a:r>
            <a:endParaRPr lang="en-US" sz="1050" dirty="0"/>
          </a:p>
        </p:txBody>
      </p:sp>
      <p:sp>
        <p:nvSpPr>
          <p:cNvPr id="56" name="Text 21"/>
          <p:cNvSpPr/>
          <p:nvPr/>
        </p:nvSpPr>
        <p:spPr>
          <a:xfrm>
            <a:off x="9867900" y="4000500"/>
            <a:ext cx="1428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Mostra ao utilizador</a:t>
            </a:r>
            <a:endParaRPr lang="en-US" sz="1050" dirty="0"/>
          </a:p>
        </p:txBody>
      </p:sp>
      <p:sp>
        <p:nvSpPr>
          <p:cNvPr id="57" name="Text 22"/>
          <p:cNvSpPr/>
          <p:nvPr/>
        </p:nvSpPr>
        <p:spPr>
          <a:xfrm>
            <a:off x="1121122" y="4800600"/>
            <a:ext cx="105374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MyApp - Classe de Aplicação</a:t>
            </a:r>
            <a:endParaRPr lang="en-US" sz="1500" dirty="0"/>
          </a:p>
        </p:txBody>
      </p:sp>
      <p:sp>
        <p:nvSpPr>
          <p:cNvPr id="58" name="Text 23"/>
          <p:cNvSpPr/>
          <p:nvPr/>
        </p:nvSpPr>
        <p:spPr>
          <a:xfrm>
            <a:off x="1121122" y="5105400"/>
            <a:ext cx="1053747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 logo no arranque e prepara o ambiente, nomeadamente o canal de notificações, para termos a certeza de que, quando o receiver for chamado, o canal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já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existe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Text 24"/>
          <p:cNvSpPr/>
          <p:nvPr/>
        </p:nvSpPr>
        <p:spPr>
          <a:xfrm>
            <a:off x="2509838" y="6096000"/>
            <a:ext cx="2011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Responsabilidades Divididas</a:t>
            </a:r>
            <a:endParaRPr lang="en-US" sz="1050" dirty="0"/>
          </a:p>
        </p:txBody>
      </p:sp>
      <p:sp>
        <p:nvSpPr>
          <p:cNvPr id="60" name="Text 25"/>
          <p:cNvSpPr/>
          <p:nvPr/>
        </p:nvSpPr>
        <p:spPr>
          <a:xfrm>
            <a:off x="4681538" y="6096000"/>
            <a:ext cx="2068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Ciclos de Vida Independentes</a:t>
            </a:r>
            <a:endParaRPr lang="en-US" sz="1050" dirty="0"/>
          </a:p>
        </p:txBody>
      </p:sp>
      <p:sp>
        <p:nvSpPr>
          <p:cNvPr id="61" name="Text 26"/>
          <p:cNvSpPr/>
          <p:nvPr/>
        </p:nvSpPr>
        <p:spPr>
          <a:xfrm>
            <a:off x="6881813" y="6096000"/>
            <a:ext cx="1737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Segurança e Permissões</a:t>
            </a:r>
            <a:endParaRPr lang="en-US" sz="1050" dirty="0"/>
          </a:p>
        </p:txBody>
      </p:sp>
      <p:sp>
        <p:nvSpPr>
          <p:cNvPr id="62" name="Text 27"/>
          <p:cNvSpPr/>
          <p:nvPr/>
        </p:nvSpPr>
        <p:spPr>
          <a:xfrm>
            <a:off x="8805863" y="6096000"/>
            <a:ext cx="1428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Pronto para Crescer</a:t>
            </a:r>
            <a:endParaRPr lang="en-US" sz="1050" dirty="0"/>
          </a:p>
        </p:txBody>
      </p:sp>
      <p:sp>
        <p:nvSpPr>
          <p:cNvPr id="63" name="Text 28"/>
          <p:cNvSpPr/>
          <p:nvPr/>
        </p:nvSpPr>
        <p:spPr>
          <a:xfrm>
            <a:off x="11433810" y="666750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3/15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09675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6764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057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384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819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2004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581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000500"/>
            <a:ext cx="5486400" cy="990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181100"/>
            <a:ext cx="5486400" cy="3467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409700"/>
            <a:ext cx="1828800" cy="1104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3" y="1562100"/>
            <a:ext cx="219075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743200"/>
            <a:ext cx="121920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7075" y="285750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9575" y="29718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2743200"/>
            <a:ext cx="121920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58263" y="2857500"/>
            <a:ext cx="2190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4575" y="2971800"/>
            <a:ext cx="1714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3200" y="2743200"/>
            <a:ext cx="121920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87075" y="2857500"/>
            <a:ext cx="17145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695700"/>
            <a:ext cx="1219200" cy="723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7075" y="3810000"/>
            <a:ext cx="17145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29575" y="3924300"/>
            <a:ext cx="17145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3695700"/>
            <a:ext cx="1219200" cy="723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72550" y="3810000"/>
            <a:ext cx="19050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34575" y="3924300"/>
            <a:ext cx="17145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3200" y="3695700"/>
            <a:ext cx="1219200" cy="723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63263" y="3810000"/>
            <a:ext cx="219075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4876800"/>
            <a:ext cx="5486400" cy="1752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5372100"/>
            <a:ext cx="5181600" cy="11049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 - Porta de Entrada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714375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Papel da MainActivity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609600" y="1638300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para o utilizador pôr os dados</a:t>
            </a:r>
            <a:endParaRPr lang="en-US" sz="1200" dirty="0"/>
          </a:p>
        </p:txBody>
      </p:sp>
      <p:sp>
        <p:nvSpPr>
          <p:cNvPr id="37" name="Text 3"/>
          <p:cNvSpPr/>
          <p:nvPr/>
        </p:nvSpPr>
        <p:spPr>
          <a:xfrm>
            <a:off x="609600" y="2019300"/>
            <a:ext cx="3040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escolher o momento da visita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609600" y="2400300"/>
            <a:ext cx="2983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Carrega em "agendar" para confirmar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609600" y="2781300"/>
            <a:ext cx="1943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fica a contar tempo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609600" y="3162300"/>
            <a:ext cx="14058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fica à espera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609600" y="3543300"/>
            <a:ext cx="1188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faz timers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533400" y="41529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MainActivity é só a porta de entrada. Serve para o utilizador pôr os dados, escolher o momento e carregar em 'agendar'. Ela não fica a contar tempo, não fica à espera, não faz timers."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8153400" y="19812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8153400" y="2209800"/>
            <a:ext cx="1828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 de Entrada</a:t>
            </a:r>
            <a:endParaRPr lang="en-US" sz="900" dirty="0"/>
          </a:p>
        </p:txBody>
      </p:sp>
      <p:sp>
        <p:nvSpPr>
          <p:cNvPr id="45" name="Text 11"/>
          <p:cNvSpPr/>
          <p:nvPr/>
        </p:nvSpPr>
        <p:spPr>
          <a:xfrm>
            <a:off x="6568440" y="31623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Utilizador</a:t>
            </a:r>
            <a:endParaRPr lang="en-US" sz="1050" dirty="0"/>
          </a:p>
        </p:txBody>
      </p:sp>
      <p:sp>
        <p:nvSpPr>
          <p:cNvPr id="46" name="Text 12"/>
          <p:cNvSpPr/>
          <p:nvPr/>
        </p:nvSpPr>
        <p:spPr>
          <a:xfrm>
            <a:off x="8473440" y="31623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Introduz dados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10378440" y="31623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 visita</a:t>
            </a:r>
            <a:endParaRPr lang="en-US" sz="1050" dirty="0"/>
          </a:p>
        </p:txBody>
      </p:sp>
      <p:sp>
        <p:nvSpPr>
          <p:cNvPr id="48" name="Text 14"/>
          <p:cNvSpPr/>
          <p:nvPr/>
        </p:nvSpPr>
        <p:spPr>
          <a:xfrm>
            <a:off x="6568440" y="41148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8473440" y="41148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Agendamento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10378440" y="4114800"/>
            <a:ext cx="1188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477000" y="50292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Exemplo de Intent:</a:t>
            </a:r>
            <a:endParaRPr lang="en-US" sz="1350" dirty="0"/>
          </a:p>
        </p:txBody>
      </p:sp>
      <p:sp>
        <p:nvSpPr>
          <p:cNvPr id="52" name="Text 18"/>
          <p:cNvSpPr/>
          <p:nvPr/>
        </p:nvSpPr>
        <p:spPr>
          <a:xfrm>
            <a:off x="6591300" y="5372100"/>
            <a:ext cx="5181600" cy="1104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Intent intent = new Intent(this, VisitSchedulerService.class);
intent.putExtra("data", dataSelecionada);
intent.putExtra("hora", horaSelecionada);
startService(intent);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11370945" y="665480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4/15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65735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26695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87655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48615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152900"/>
            <a:ext cx="5486400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209675"/>
            <a:ext cx="2571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638300"/>
            <a:ext cx="5486400" cy="3619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638300"/>
            <a:ext cx="17145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79070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1765" y="1888777"/>
            <a:ext cx="952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3648" y="1684802"/>
            <a:ext cx="17145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39200" y="1778375"/>
            <a:ext cx="1714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6061" y="2330732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8432" y="2562225"/>
            <a:ext cx="17145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0325" y="2799888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9436268" y="3276600"/>
            <a:ext cx="952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23798" y="3419475"/>
            <a:ext cx="17145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38098" y="3571875"/>
            <a:ext cx="20002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0275" y="409575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93131" y="4400550"/>
            <a:ext cx="1714500" cy="838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5147" y="4600575"/>
            <a:ext cx="28575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5461" y="4772025"/>
            <a:ext cx="952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4552950"/>
            <a:ext cx="171450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7950" y="4724400"/>
            <a:ext cx="200025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5410200"/>
            <a:ext cx="5486400" cy="1219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5905500"/>
            <a:ext cx="1333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6134100"/>
            <a:ext cx="133350" cy="13335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VisitSchedulerService - Agendamento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68580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C27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Funcionamento do Service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457200" y="1676400"/>
            <a:ext cx="91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"/>
          <p:cNvSpPr/>
          <p:nvPr/>
        </p:nvSpPr>
        <p:spPr>
          <a:xfrm>
            <a:off x="723900" y="1657350"/>
            <a:ext cx="157734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Receção do Pedido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723900" y="1905000"/>
            <a:ext cx="59207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serviço recebe o momento em que o utilizador </a:t>
            </a:r>
            <a:r>
              <a:rPr lang="en-US" sz="105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r>
              <a:rPr lang="en-US" sz="105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(em milissegundos)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457200" y="2286000"/>
            <a:ext cx="91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723900" y="2266950"/>
            <a:ext cx="152019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Pedido ao Android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723900" y="251460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Pede ao Android o gestor de alarmes (AlarmManager)</a:t>
            </a:r>
            <a:endParaRPr lang="en-US" sz="1050" dirty="0"/>
          </a:p>
        </p:txBody>
      </p:sp>
      <p:sp>
        <p:nvSpPr>
          <p:cNvPr id="43" name="Text 8"/>
          <p:cNvSpPr/>
          <p:nvPr/>
        </p:nvSpPr>
        <p:spPr>
          <a:xfrm>
            <a:off x="457200" y="2895600"/>
            <a:ext cx="91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723900" y="2876550"/>
            <a:ext cx="241173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Preparação da PendingIntent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723900" y="3124200"/>
            <a:ext cx="49263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a ação numa PendingIntent para ser executada no futuro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457200" y="3505200"/>
            <a:ext cx="91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Text 12"/>
          <p:cNvSpPr/>
          <p:nvPr/>
        </p:nvSpPr>
        <p:spPr>
          <a:xfrm>
            <a:off x="723900" y="3486150"/>
            <a:ext cx="152019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Registo do Alarme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723900" y="3733800"/>
            <a:ext cx="3051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Diz ao Android: "regista isto para esta hora"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495300" y="426720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Código do agendamento</a:t>
            </a:r>
            <a:endParaRPr lang="en-US" sz="1050" dirty="0"/>
          </a:p>
        </p:txBody>
      </p:sp>
      <p:sp>
        <p:nvSpPr>
          <p:cNvPr id="50" name="Text 15"/>
          <p:cNvSpPr/>
          <p:nvPr/>
        </p:nvSpPr>
        <p:spPr>
          <a:xfrm>
            <a:off x="495300" y="453390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27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alarmManager = </a:t>
            </a: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(AlarmManager)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getSystemService(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Context.ALARM_SERVICE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050" dirty="0"/>
          </a:p>
        </p:txBody>
      </p:sp>
      <p:sp>
        <p:nvSpPr>
          <p:cNvPr id="51" name="Text 16"/>
          <p:cNvSpPr/>
          <p:nvPr/>
        </p:nvSpPr>
        <p:spPr>
          <a:xfrm>
            <a:off x="495300" y="4953000"/>
            <a:ext cx="6309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27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Intent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intent = </a:t>
            </a: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 Intent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VisitReminderReceiver.class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050" dirty="0"/>
          </a:p>
        </p:txBody>
      </p:sp>
      <p:sp>
        <p:nvSpPr>
          <p:cNvPr id="52" name="Text 17"/>
          <p:cNvSpPr/>
          <p:nvPr/>
        </p:nvSpPr>
        <p:spPr>
          <a:xfrm>
            <a:off x="495300" y="518160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27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PendingIntent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pendingIntent = </a:t>
            </a: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PendingIntent.getBroadcast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0, intent, 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PendingIntent.FLAG_IMMUTABLE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495300" y="560070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alarmManager.setExactAndAllowWhileIdle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FF572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AlarmManager.RTC_WAKEUP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triggerTimeMillis, pendingIntent);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6657975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Fluxo de Agendamento</a:t>
            </a:r>
            <a:endParaRPr lang="en-US" sz="1800" dirty="0"/>
          </a:p>
        </p:txBody>
      </p:sp>
      <p:sp>
        <p:nvSpPr>
          <p:cNvPr id="55" name="Text 20"/>
          <p:cNvSpPr/>
          <p:nvPr/>
        </p:nvSpPr>
        <p:spPr>
          <a:xfrm>
            <a:off x="6753225" y="1752600"/>
            <a:ext cx="845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Utilizador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6753225" y="1981200"/>
            <a:ext cx="8458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 visita</a:t>
            </a:r>
            <a:endParaRPr lang="en-US" sz="900" dirty="0"/>
          </a:p>
        </p:txBody>
      </p:sp>
      <p:sp>
        <p:nvSpPr>
          <p:cNvPr id="57" name="Text 22"/>
          <p:cNvSpPr/>
          <p:nvPr/>
        </p:nvSpPr>
        <p:spPr>
          <a:xfrm>
            <a:off x="9067800" y="1746722"/>
            <a:ext cx="1165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200" dirty="0"/>
          </a:p>
        </p:txBody>
      </p:sp>
      <p:sp>
        <p:nvSpPr>
          <p:cNvPr id="58" name="Text 23"/>
          <p:cNvSpPr/>
          <p:nvPr/>
        </p:nvSpPr>
        <p:spPr>
          <a:xfrm>
            <a:off x="9071578" y="1939084"/>
            <a:ext cx="11658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Passa para service</a:t>
            </a:r>
            <a:endParaRPr lang="en-US" sz="900" dirty="0"/>
          </a:p>
        </p:txBody>
      </p:sp>
      <p:sp>
        <p:nvSpPr>
          <p:cNvPr id="59" name="Text 24"/>
          <p:cNvSpPr/>
          <p:nvPr/>
        </p:nvSpPr>
        <p:spPr>
          <a:xfrm>
            <a:off x="8825461" y="2567419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VisitSchedulerService</a:t>
            </a:r>
            <a:endParaRPr lang="en-US" sz="1200" dirty="0"/>
          </a:p>
        </p:txBody>
      </p:sp>
      <p:sp>
        <p:nvSpPr>
          <p:cNvPr id="60" name="Text 25"/>
          <p:cNvSpPr/>
          <p:nvPr/>
        </p:nvSpPr>
        <p:spPr>
          <a:xfrm>
            <a:off x="9206112" y="2856947"/>
            <a:ext cx="18059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 no Android</a:t>
            </a:r>
            <a:endParaRPr lang="en-US" sz="900" dirty="0"/>
          </a:p>
        </p:txBody>
      </p:sp>
      <p:sp>
        <p:nvSpPr>
          <p:cNvPr id="61" name="Text 26"/>
          <p:cNvSpPr/>
          <p:nvPr/>
        </p:nvSpPr>
        <p:spPr>
          <a:xfrm>
            <a:off x="9152423" y="3533775"/>
            <a:ext cx="1245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AlarmManager</a:t>
            </a:r>
            <a:endParaRPr lang="en-US" sz="1200" dirty="0"/>
          </a:p>
        </p:txBody>
      </p:sp>
      <p:sp>
        <p:nvSpPr>
          <p:cNvPr id="62" name="Text 27"/>
          <p:cNvSpPr/>
          <p:nvPr/>
        </p:nvSpPr>
        <p:spPr>
          <a:xfrm>
            <a:off x="9242278" y="3752850"/>
            <a:ext cx="12458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Regista alarme</a:t>
            </a:r>
            <a:endParaRPr lang="en-US" sz="900" dirty="0"/>
          </a:p>
        </p:txBody>
      </p:sp>
      <p:sp>
        <p:nvSpPr>
          <p:cNvPr id="63" name="Text 28"/>
          <p:cNvSpPr/>
          <p:nvPr/>
        </p:nvSpPr>
        <p:spPr>
          <a:xfrm>
            <a:off x="9330341" y="4438650"/>
            <a:ext cx="108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Android</a:t>
            </a:r>
            <a:endParaRPr lang="en-US" sz="1200" dirty="0"/>
          </a:p>
        </p:txBody>
      </p:sp>
      <p:sp>
        <p:nvSpPr>
          <p:cNvPr id="64" name="Text 29"/>
          <p:cNvSpPr/>
          <p:nvPr/>
        </p:nvSpPr>
        <p:spPr>
          <a:xfrm>
            <a:off x="9198896" y="4924425"/>
            <a:ext cx="13030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Aguarda trigger</a:t>
            </a:r>
            <a:endParaRPr lang="en-US" sz="900" dirty="0"/>
          </a:p>
        </p:txBody>
      </p:sp>
      <p:sp>
        <p:nvSpPr>
          <p:cNvPr id="65" name="Text 30"/>
          <p:cNvSpPr/>
          <p:nvPr/>
        </p:nvSpPr>
        <p:spPr>
          <a:xfrm>
            <a:off x="6638925" y="4610100"/>
            <a:ext cx="1874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VisitReminderReceiver</a:t>
            </a:r>
            <a:endParaRPr lang="en-US" sz="1200" dirty="0"/>
          </a:p>
        </p:txBody>
      </p:sp>
      <p:sp>
        <p:nvSpPr>
          <p:cNvPr id="66" name="Text 31"/>
          <p:cNvSpPr/>
          <p:nvPr/>
        </p:nvSpPr>
        <p:spPr>
          <a:xfrm>
            <a:off x="6828225" y="4876800"/>
            <a:ext cx="1874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Constrói notificação</a:t>
            </a:r>
            <a:endParaRPr lang="en-US" sz="900" dirty="0"/>
          </a:p>
        </p:txBody>
      </p:sp>
      <p:sp>
        <p:nvSpPr>
          <p:cNvPr id="67" name="Text 32"/>
          <p:cNvSpPr/>
          <p:nvPr/>
        </p:nvSpPr>
        <p:spPr>
          <a:xfrm>
            <a:off x="6477000" y="55626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27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Pontos Importantes</a:t>
            </a:r>
            <a:endParaRPr lang="en-US" sz="1200" dirty="0"/>
          </a:p>
        </p:txBody>
      </p:sp>
      <p:sp>
        <p:nvSpPr>
          <p:cNvPr id="68" name="Text 33"/>
          <p:cNvSpPr/>
          <p:nvPr/>
        </p:nvSpPr>
        <p:spPr>
          <a:xfrm>
            <a:off x="6686550" y="5867400"/>
            <a:ext cx="4812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serviço agenda e depois termina, não fica a correr a gastar bateria</a:t>
            </a:r>
            <a:endParaRPr lang="en-US" sz="1050" dirty="0"/>
          </a:p>
        </p:txBody>
      </p:sp>
      <p:sp>
        <p:nvSpPr>
          <p:cNvPr id="69" name="Text 34"/>
          <p:cNvSpPr/>
          <p:nvPr/>
        </p:nvSpPr>
        <p:spPr>
          <a:xfrm>
            <a:off x="6686550" y="6096000"/>
            <a:ext cx="4972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setExactAndAllowWhileIdle para garantir precisão e funcionamento em modo poupança</a:t>
            </a:r>
            <a:endParaRPr lang="en-US" sz="1050" dirty="0"/>
          </a:p>
        </p:txBody>
      </p:sp>
      <p:sp>
        <p:nvSpPr>
          <p:cNvPr id="70" name="Text 35"/>
          <p:cNvSpPr/>
          <p:nvPr/>
        </p:nvSpPr>
        <p:spPr>
          <a:xfrm>
            <a:off x="11396662" y="666750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5/15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979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106914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4" y="1143048"/>
            <a:ext cx="6629400" cy="3435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575" y="1143048"/>
            <a:ext cx="523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94" y="5193393"/>
            <a:ext cx="6629400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64" y="5383893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664" y="5726793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664" y="6031593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664" y="6336393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1104900"/>
            <a:ext cx="4343400" cy="2209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1295400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0" y="1638300"/>
            <a:ext cx="40386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0" y="2019300"/>
            <a:ext cx="40386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0" y="2400300"/>
            <a:ext cx="40386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7600" y="3467100"/>
            <a:ext cx="4343400" cy="1752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0" y="36576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0" y="400050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4305300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4610100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67600" y="5372100"/>
            <a:ext cx="43434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0" y="5562600"/>
            <a:ext cx="19050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0" y="590550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0" y="6134100"/>
            <a:ext cx="133350" cy="1333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89714" y="317476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do Agendamento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080760" y="1168448"/>
            <a:ext cx="628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152400" y="1187498"/>
            <a:ext cx="4274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Obter o AlarmManager do sistema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152400" y="1454198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409700" y="1454198"/>
            <a:ext cx="2137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alarmManager = (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3190875" y="1454198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4448175" y="1454198"/>
            <a:ext cx="251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4657725" y="1454198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getSystemService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114300" y="1700082"/>
            <a:ext cx="3017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(Context.ALARM_SERVICE);
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152400" y="1987598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Criar Intent para o BroadcastReceiver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152400" y="2254298"/>
            <a:ext cx="754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Intent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781050" y="2254298"/>
            <a:ext cx="125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intent = 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1828800" y="2254298"/>
            <a:ext cx="377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2247900" y="2254298"/>
            <a:ext cx="754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Intent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2876550" y="2254298"/>
            <a:ext cx="125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2981325" y="2254298"/>
            <a:ext cx="502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3400425" y="2254298"/>
            <a:ext cx="3017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VisitReminderReceiver.</a:t>
            </a:r>
            <a:endParaRPr lang="en-US" sz="1350" dirty="0"/>
          </a:p>
        </p:txBody>
      </p:sp>
      <p:sp>
        <p:nvSpPr>
          <p:cNvPr id="43" name="Text 17"/>
          <p:cNvSpPr/>
          <p:nvPr/>
        </p:nvSpPr>
        <p:spPr>
          <a:xfrm>
            <a:off x="5915025" y="2254298"/>
            <a:ext cx="628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endParaRPr lang="en-US" sz="1350" dirty="0"/>
          </a:p>
        </p:txBody>
      </p:sp>
      <p:sp>
        <p:nvSpPr>
          <p:cNvPr id="44" name="Text 18"/>
          <p:cNvSpPr/>
          <p:nvPr/>
        </p:nvSpPr>
        <p:spPr>
          <a:xfrm>
            <a:off x="6438900" y="2254298"/>
            <a:ext cx="251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
</a:t>
            </a:r>
            <a:endParaRPr lang="en-US" sz="1350" dirty="0"/>
          </a:p>
        </p:txBody>
      </p:sp>
      <p:sp>
        <p:nvSpPr>
          <p:cNvPr id="45" name="Text 19"/>
          <p:cNvSpPr/>
          <p:nvPr/>
        </p:nvSpPr>
        <p:spPr>
          <a:xfrm>
            <a:off x="152400" y="2546398"/>
            <a:ext cx="2766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Criar PendingIntent</a:t>
            </a:r>
            <a:endParaRPr lang="en-US" sz="1350" dirty="0"/>
          </a:p>
        </p:txBody>
      </p:sp>
      <p:sp>
        <p:nvSpPr>
          <p:cNvPr id="46" name="Text 20"/>
          <p:cNvSpPr/>
          <p:nvPr/>
        </p:nvSpPr>
        <p:spPr>
          <a:xfrm>
            <a:off x="171450" y="2956068"/>
            <a:ext cx="6610171" cy="682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400" dirty="0" err="1">
                <a:solidFill>
                  <a:srgbClr val="4F89B9"/>
                </a:solidFill>
              </a:rPr>
              <a:t>PendingIntent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pendingIntent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dirty="0" err="1">
                <a:solidFill>
                  <a:srgbClr val="DCDCAA"/>
                </a:solidFill>
              </a:rPr>
              <a:t>PendingIntent</a:t>
            </a:r>
            <a:r>
              <a:rPr lang="en-US" sz="1400" dirty="0" err="1">
                <a:solidFill>
                  <a:schemeClr val="bg1"/>
                </a:solidFill>
              </a:rPr>
              <a:t>.getBroadcast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>
                <a:solidFill>
                  <a:srgbClr val="3F5D76"/>
                </a:solidFill>
              </a:rPr>
              <a:t>this </a:t>
            </a:r>
            <a:r>
              <a:rPr lang="en-US" sz="1400" dirty="0">
                <a:solidFill>
                  <a:srgbClr val="6F7B69"/>
                </a:solidFill>
              </a:rPr>
              <a:t>0</a:t>
            </a:r>
            <a:r>
              <a:rPr lang="en-US" sz="1400" dirty="0">
                <a:solidFill>
                  <a:schemeClr val="bg1"/>
                </a:solidFill>
              </a:rPr>
              <a:t>,intent,</a:t>
            </a:r>
            <a:r>
              <a:rPr lang="en-US" sz="1400" dirty="0">
                <a:solidFill>
                  <a:srgbClr val="47AB97"/>
                </a:solidFill>
              </a:rPr>
              <a:t>PendingIntent</a:t>
            </a:r>
            <a:r>
              <a:rPr lang="en-US" sz="1400" dirty="0">
                <a:solidFill>
                  <a:schemeClr val="bg1"/>
                </a:solidFill>
              </a:rPr>
              <a:t>.FLAG_IMMUTABLE);</a:t>
            </a:r>
            <a:endParaRPr lang="pt-PT" sz="1400" dirty="0">
              <a:solidFill>
                <a:schemeClr val="bg1"/>
              </a:solidFill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52" name="Text 26"/>
          <p:cNvSpPr/>
          <p:nvPr/>
        </p:nvSpPr>
        <p:spPr>
          <a:xfrm>
            <a:off x="6217329" y="3484789"/>
            <a:ext cx="125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56" name="Text 30"/>
          <p:cNvSpPr/>
          <p:nvPr/>
        </p:nvSpPr>
        <p:spPr>
          <a:xfrm>
            <a:off x="89535" y="3425873"/>
            <a:ext cx="61607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Agendar alarme com precisão mesmo em modo Doze</a:t>
            </a:r>
            <a:endParaRPr lang="en-US" sz="1350" dirty="0"/>
          </a:p>
        </p:txBody>
      </p:sp>
      <p:sp>
        <p:nvSpPr>
          <p:cNvPr id="58" name="Text 32"/>
          <p:cNvSpPr/>
          <p:nvPr/>
        </p:nvSpPr>
        <p:spPr>
          <a:xfrm>
            <a:off x="1443990" y="3787823"/>
            <a:ext cx="125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60" name="Text 34"/>
          <p:cNvSpPr/>
          <p:nvPr/>
        </p:nvSpPr>
        <p:spPr>
          <a:xfrm>
            <a:off x="86539" y="3724371"/>
            <a:ext cx="426434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alarmManager.setExactAndAllowWhileIdle</a:t>
            </a:r>
            <a:endParaRPr lang="en-US" sz="1350" dirty="0"/>
          </a:p>
        </p:txBody>
      </p:sp>
      <p:sp>
        <p:nvSpPr>
          <p:cNvPr id="61" name="Text 35"/>
          <p:cNvSpPr/>
          <p:nvPr/>
        </p:nvSpPr>
        <p:spPr>
          <a:xfrm>
            <a:off x="3959542" y="3733800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350" dirty="0" err="1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</a:t>
            </a:r>
            <a:endParaRPr lang="en-US" sz="1350" dirty="0"/>
          </a:p>
        </p:txBody>
      </p:sp>
      <p:sp>
        <p:nvSpPr>
          <p:cNvPr id="62" name="Text 36"/>
          <p:cNvSpPr/>
          <p:nvPr/>
        </p:nvSpPr>
        <p:spPr>
          <a:xfrm>
            <a:off x="51614" y="4052872"/>
            <a:ext cx="5099685" cy="1028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1350" dirty="0" err="1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RTC_WAKEUP,triggerTimeMillis,pendingIntent</a:t>
            </a:r>
            <a:r>
              <a:rPr lang="en-US" sz="13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350" dirty="0"/>
          </a:p>
        </p:txBody>
      </p:sp>
      <p:sp>
        <p:nvSpPr>
          <p:cNvPr id="63" name="Text 37"/>
          <p:cNvSpPr/>
          <p:nvPr/>
        </p:nvSpPr>
        <p:spPr>
          <a:xfrm>
            <a:off x="512989" y="5345793"/>
            <a:ext cx="632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Explicação do Código</a:t>
            </a:r>
            <a:endParaRPr lang="en-US" sz="1500" dirty="0"/>
          </a:p>
        </p:txBody>
      </p:sp>
      <p:sp>
        <p:nvSpPr>
          <p:cNvPr id="64" name="Text 38"/>
          <p:cNvSpPr/>
          <p:nvPr/>
        </p:nvSpPr>
        <p:spPr>
          <a:xfrm>
            <a:off x="427264" y="5688693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AlarmManager: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Serviço do sistema para agendamento de alarmes</a:t>
            </a:r>
            <a:endParaRPr lang="en-US" sz="1200" dirty="0"/>
          </a:p>
        </p:txBody>
      </p:sp>
      <p:sp>
        <p:nvSpPr>
          <p:cNvPr id="65" name="Text 39"/>
          <p:cNvSpPr/>
          <p:nvPr/>
        </p:nvSpPr>
        <p:spPr>
          <a:xfrm>
            <a:off x="427264" y="5993493"/>
            <a:ext cx="4732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PendingIntent: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Intent autorizada a ser executada no futuro</a:t>
            </a:r>
            <a:endParaRPr lang="en-US" sz="1200" dirty="0"/>
          </a:p>
        </p:txBody>
      </p:sp>
      <p:sp>
        <p:nvSpPr>
          <p:cNvPr id="66" name="Text 40"/>
          <p:cNvSpPr/>
          <p:nvPr/>
        </p:nvSpPr>
        <p:spPr>
          <a:xfrm>
            <a:off x="427264" y="6298293"/>
            <a:ext cx="7269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setExactAndAllowWhileIdle: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Método que garante precisão mesmo em modo de poupança</a:t>
            </a:r>
            <a:endParaRPr lang="en-US" sz="1200" dirty="0"/>
          </a:p>
        </p:txBody>
      </p:sp>
      <p:sp>
        <p:nvSpPr>
          <p:cNvPr id="67" name="Text 41"/>
          <p:cNvSpPr/>
          <p:nvPr/>
        </p:nvSpPr>
        <p:spPr>
          <a:xfrm>
            <a:off x="7934325" y="1257300"/>
            <a:ext cx="4846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Comparação de Métodos</a:t>
            </a:r>
            <a:endParaRPr lang="en-US" sz="1500" dirty="0"/>
          </a:p>
        </p:txBody>
      </p:sp>
      <p:sp>
        <p:nvSpPr>
          <p:cNvPr id="68" name="Text 42"/>
          <p:cNvSpPr/>
          <p:nvPr/>
        </p:nvSpPr>
        <p:spPr>
          <a:xfrm>
            <a:off x="7629525" y="1638300"/>
            <a:ext cx="23026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</a:t>
            </a:r>
            <a:endParaRPr lang="en-US" sz="1200" dirty="0"/>
          </a:p>
        </p:txBody>
      </p:sp>
      <p:sp>
        <p:nvSpPr>
          <p:cNvPr id="69" name="Text 43"/>
          <p:cNvSpPr/>
          <p:nvPr/>
        </p:nvSpPr>
        <p:spPr>
          <a:xfrm>
            <a:off x="9932194" y="1638300"/>
            <a:ext cx="930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70" name="Text 44"/>
          <p:cNvSpPr/>
          <p:nvPr/>
        </p:nvSpPr>
        <p:spPr>
          <a:xfrm>
            <a:off x="10707439" y="1638300"/>
            <a:ext cx="11528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Modo Doze</a:t>
            </a:r>
            <a:endParaRPr lang="en-US" sz="1200" dirty="0"/>
          </a:p>
        </p:txBody>
      </p:sp>
      <p:sp>
        <p:nvSpPr>
          <p:cNvPr id="71" name="Text 45"/>
          <p:cNvSpPr/>
          <p:nvPr/>
        </p:nvSpPr>
        <p:spPr>
          <a:xfrm>
            <a:off x="7629525" y="2019300"/>
            <a:ext cx="27632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setExactAndAllowWhileIdle</a:t>
            </a:r>
            <a:endParaRPr lang="en-US" sz="1200" dirty="0"/>
          </a:p>
        </p:txBody>
      </p:sp>
      <p:sp>
        <p:nvSpPr>
          <p:cNvPr id="72" name="Text 46"/>
          <p:cNvSpPr/>
          <p:nvPr/>
        </p:nvSpPr>
        <p:spPr>
          <a:xfrm>
            <a:off x="9932194" y="2019300"/>
            <a:ext cx="930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Exata</a:t>
            </a:r>
            <a:endParaRPr lang="en-US" sz="1200" dirty="0"/>
          </a:p>
        </p:txBody>
      </p:sp>
      <p:sp>
        <p:nvSpPr>
          <p:cNvPr id="73" name="Text 47"/>
          <p:cNvSpPr/>
          <p:nvPr/>
        </p:nvSpPr>
        <p:spPr>
          <a:xfrm>
            <a:off x="10707439" y="2019300"/>
            <a:ext cx="11528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Permitido</a:t>
            </a:r>
            <a:endParaRPr lang="en-US" sz="1200" dirty="0"/>
          </a:p>
        </p:txBody>
      </p:sp>
      <p:sp>
        <p:nvSpPr>
          <p:cNvPr id="74" name="Text 48"/>
          <p:cNvSpPr/>
          <p:nvPr/>
        </p:nvSpPr>
        <p:spPr>
          <a:xfrm>
            <a:off x="7629525" y="2400300"/>
            <a:ext cx="23026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setExact</a:t>
            </a:r>
            <a:endParaRPr lang="en-US" sz="1200" dirty="0"/>
          </a:p>
        </p:txBody>
      </p:sp>
      <p:sp>
        <p:nvSpPr>
          <p:cNvPr id="75" name="Text 49"/>
          <p:cNvSpPr/>
          <p:nvPr/>
        </p:nvSpPr>
        <p:spPr>
          <a:xfrm>
            <a:off x="9932194" y="2400300"/>
            <a:ext cx="930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Exata</a:t>
            </a:r>
            <a:endParaRPr lang="en-US" sz="1200" dirty="0"/>
          </a:p>
        </p:txBody>
      </p:sp>
      <p:sp>
        <p:nvSpPr>
          <p:cNvPr id="76" name="Text 50"/>
          <p:cNvSpPr/>
          <p:nvPr/>
        </p:nvSpPr>
        <p:spPr>
          <a:xfrm>
            <a:off x="10707439" y="2400300"/>
            <a:ext cx="11528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Bloqueado</a:t>
            </a:r>
            <a:endParaRPr lang="en-US" sz="1200" dirty="0"/>
          </a:p>
        </p:txBody>
      </p:sp>
      <p:sp>
        <p:nvSpPr>
          <p:cNvPr id="77" name="Text 51"/>
          <p:cNvSpPr/>
          <p:nvPr/>
        </p:nvSpPr>
        <p:spPr>
          <a:xfrm>
            <a:off x="7629525" y="2781300"/>
            <a:ext cx="23026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endParaRPr lang="en-US" sz="1200" dirty="0"/>
          </a:p>
        </p:txBody>
      </p:sp>
      <p:sp>
        <p:nvSpPr>
          <p:cNvPr id="78" name="Text 52"/>
          <p:cNvSpPr/>
          <p:nvPr/>
        </p:nvSpPr>
        <p:spPr>
          <a:xfrm>
            <a:off x="9932194" y="2781300"/>
            <a:ext cx="93029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Ajustável</a:t>
            </a:r>
            <a:endParaRPr lang="en-US" sz="1200" dirty="0"/>
          </a:p>
        </p:txBody>
      </p:sp>
      <p:sp>
        <p:nvSpPr>
          <p:cNvPr id="79" name="Text 53"/>
          <p:cNvSpPr/>
          <p:nvPr/>
        </p:nvSpPr>
        <p:spPr>
          <a:xfrm>
            <a:off x="10707439" y="2781300"/>
            <a:ext cx="11528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Bloqueado</a:t>
            </a:r>
            <a:endParaRPr lang="en-US" sz="1200" dirty="0"/>
          </a:p>
        </p:txBody>
      </p:sp>
      <p:sp>
        <p:nvSpPr>
          <p:cNvPr id="80" name="Text 54"/>
          <p:cNvSpPr/>
          <p:nvPr/>
        </p:nvSpPr>
        <p:spPr>
          <a:xfrm>
            <a:off x="7886700" y="3619500"/>
            <a:ext cx="4846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Parâmetros Importantes</a:t>
            </a:r>
            <a:endParaRPr lang="en-US" sz="1500" dirty="0"/>
          </a:p>
        </p:txBody>
      </p:sp>
      <p:sp>
        <p:nvSpPr>
          <p:cNvPr id="81" name="Text 55"/>
          <p:cNvSpPr/>
          <p:nvPr/>
        </p:nvSpPr>
        <p:spPr>
          <a:xfrm>
            <a:off x="7691438" y="4000500"/>
            <a:ext cx="102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82" name="Text 56"/>
          <p:cNvSpPr/>
          <p:nvPr/>
        </p:nvSpPr>
        <p:spPr>
          <a:xfrm>
            <a:off x="7924800" y="4000500"/>
            <a:ext cx="448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RTC_WAKEUP: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Acorda o dispositivo e usa o relógio real</a:t>
            </a:r>
            <a:endParaRPr lang="en-US" sz="1200" dirty="0"/>
          </a:p>
        </p:txBody>
      </p:sp>
      <p:sp>
        <p:nvSpPr>
          <p:cNvPr id="83" name="Text 57"/>
          <p:cNvSpPr/>
          <p:nvPr/>
        </p:nvSpPr>
        <p:spPr>
          <a:xfrm>
            <a:off x="7691438" y="4305300"/>
            <a:ext cx="102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4" name="Text 58"/>
          <p:cNvSpPr/>
          <p:nvPr/>
        </p:nvSpPr>
        <p:spPr>
          <a:xfrm>
            <a:off x="7924800" y="4305300"/>
            <a:ext cx="3589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triggerTimeMillis: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Timestamp da hora exata</a:t>
            </a:r>
            <a:endParaRPr lang="en-US" sz="1200" dirty="0"/>
          </a:p>
        </p:txBody>
      </p:sp>
      <p:sp>
        <p:nvSpPr>
          <p:cNvPr id="85" name="Text 59"/>
          <p:cNvSpPr/>
          <p:nvPr/>
        </p:nvSpPr>
        <p:spPr>
          <a:xfrm>
            <a:off x="7691438" y="4610100"/>
            <a:ext cx="102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86" name="Text 60"/>
          <p:cNvSpPr/>
          <p:nvPr/>
        </p:nvSpPr>
        <p:spPr>
          <a:xfrm>
            <a:off x="7924800" y="4610100"/>
            <a:ext cx="3733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FLAG_IMMUTABLE: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Garante segurança da PendingIntent</a:t>
            </a:r>
            <a:endParaRPr lang="en-US" sz="1200" dirty="0"/>
          </a:p>
        </p:txBody>
      </p:sp>
      <p:sp>
        <p:nvSpPr>
          <p:cNvPr id="87" name="Text 61"/>
          <p:cNvSpPr/>
          <p:nvPr/>
        </p:nvSpPr>
        <p:spPr>
          <a:xfrm>
            <a:off x="7886700" y="5524500"/>
            <a:ext cx="4846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que pode falhar</a:t>
            </a:r>
            <a:endParaRPr lang="en-US" sz="1500" dirty="0"/>
          </a:p>
        </p:txBody>
      </p:sp>
      <p:sp>
        <p:nvSpPr>
          <p:cNvPr id="88" name="Text 62"/>
          <p:cNvSpPr/>
          <p:nvPr/>
        </p:nvSpPr>
        <p:spPr>
          <a:xfrm>
            <a:off x="7829550" y="58674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 set(...) em vez de setExactAndAllowWhileIdle(...)</a:t>
            </a:r>
            <a:endParaRPr lang="en-US" sz="1050" dirty="0"/>
          </a:p>
        </p:txBody>
      </p:sp>
      <p:sp>
        <p:nvSpPr>
          <p:cNvPr id="89" name="Text 63"/>
          <p:cNvSpPr/>
          <p:nvPr/>
        </p:nvSpPr>
        <p:spPr>
          <a:xfrm>
            <a:off x="7829550" y="6096000"/>
            <a:ext cx="1691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usar PendingIntent</a:t>
            </a:r>
            <a:endParaRPr lang="en-US" sz="1050" dirty="0"/>
          </a:p>
        </p:txBody>
      </p:sp>
      <p:sp>
        <p:nvSpPr>
          <p:cNvPr id="90" name="Text 64"/>
          <p:cNvSpPr/>
          <p:nvPr/>
        </p:nvSpPr>
        <p:spPr>
          <a:xfrm>
            <a:off x="11346815" y="6679293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6/15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638300"/>
            <a:ext cx="5486400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1828800"/>
            <a:ext cx="18288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9900" y="19812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0" y="17526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0013" y="1828800"/>
            <a:ext cx="104775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3528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924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267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686300"/>
            <a:ext cx="5486400" cy="1028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1181100"/>
            <a:ext cx="5715000" cy="5238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2096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638300"/>
            <a:ext cx="54864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1828800"/>
            <a:ext cx="12192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67550" y="197167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29575" y="2047875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8200" y="1828800"/>
            <a:ext cx="12192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82075" y="1971675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2675" y="204787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01300" y="1828800"/>
            <a:ext cx="12192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15650" y="1971675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289560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238500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581400"/>
            <a:ext cx="1905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9243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572000"/>
            <a:ext cx="5486400" cy="9906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PendingIntent e Segurança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68580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que é PendingIntent?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2209800" y="2362200"/>
            <a:ext cx="1828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PendingIntent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2209800" y="2590800"/>
            <a:ext cx="1828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com autorização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609600" y="33147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exatamente a mesma mensagem (Intent), mas preparada para ser guardada pelo sistema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609600" y="3886200"/>
            <a:ext cx="589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executar código no futuro, mesmo que a app já não esteja aberta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609600" y="4229100"/>
            <a:ext cx="4846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como prova de que a app autorizou a execução futura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495300" y="4800600"/>
            <a:ext cx="6309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DC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Criar PendingIntent para BroadcastReceiver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495300" y="5029200"/>
            <a:ext cx="6309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PendingIntent pendingIntent = PendingIntent.getBroadcast(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647700" y="521970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this, 0, intent, PendingIntent.FLAG_IMMUTABLE</a:t>
            </a:r>
            <a:endParaRPr lang="en-US" sz="1050" dirty="0"/>
          </a:p>
        </p:txBody>
      </p:sp>
      <p:sp>
        <p:nvSpPr>
          <p:cNvPr id="41" name="Text 10"/>
          <p:cNvSpPr/>
          <p:nvPr/>
        </p:nvSpPr>
        <p:spPr>
          <a:xfrm>
            <a:off x="495300" y="541020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662940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Segurança no Android</a:t>
            </a:r>
            <a:endParaRPr lang="en-US" sz="1800" dirty="0"/>
          </a:p>
        </p:txBody>
      </p:sp>
      <p:sp>
        <p:nvSpPr>
          <p:cNvPr id="43" name="Text 12"/>
          <p:cNvSpPr/>
          <p:nvPr/>
        </p:nvSpPr>
        <p:spPr>
          <a:xfrm>
            <a:off x="6629400" y="2171700"/>
            <a:ext cx="990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</a:t>
            </a:r>
            <a:endParaRPr lang="en-US" sz="900" dirty="0"/>
          </a:p>
        </p:txBody>
      </p:sp>
      <p:sp>
        <p:nvSpPr>
          <p:cNvPr id="44" name="Text 13"/>
          <p:cNvSpPr/>
          <p:nvPr/>
        </p:nvSpPr>
        <p:spPr>
          <a:xfrm>
            <a:off x="8473440" y="2171700"/>
            <a:ext cx="11887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PendingIntent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10515600" y="2171700"/>
            <a:ext cx="990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</a:t>
            </a:r>
            <a:endParaRPr lang="en-US" sz="900" dirty="0"/>
          </a:p>
        </p:txBody>
      </p:sp>
      <p:sp>
        <p:nvSpPr>
          <p:cNvPr id="46" name="Text 15"/>
          <p:cNvSpPr/>
          <p:nvPr/>
        </p:nvSpPr>
        <p:spPr>
          <a:xfrm>
            <a:off x="6591300" y="2857500"/>
            <a:ext cx="4034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Android corre todas as apps isoladas (sandbox)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591300" y="3200400"/>
            <a:ext cx="62407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app não pode simplesmente dizer ao sistema "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executa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meu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591300" y="3543300"/>
            <a:ext cx="360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PendingIntent é essa prova de autorização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591300" y="3886200"/>
            <a:ext cx="5219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nova versão, temos de especificar se a PendingIntent pode ser alterada (FLAG_IMMUTABLE)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477000" y="47244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Porque é importante: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Sem PendingIntent, o Android não tinha autorização para disparar a nossa Intent no futuro. O sistema não executa intents normais que vieram do nada.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11382375" y="665480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7/15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715000" cy="533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209675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638300"/>
            <a:ext cx="5486400" cy="1790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550" y="18288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6625" y="19812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9400" y="18288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95613" y="198120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1250" y="18288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750" y="19812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695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038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381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800600"/>
            <a:ext cx="54864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1209675"/>
            <a:ext cx="17145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638300"/>
            <a:ext cx="5486400" cy="2171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790700"/>
            <a:ext cx="2514600" cy="1866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2209800"/>
            <a:ext cx="2286000" cy="1104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3409950"/>
            <a:ext cx="114300" cy="114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0" y="1790700"/>
            <a:ext cx="2514600" cy="1866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2209800"/>
            <a:ext cx="2286000" cy="1104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8300" y="3409950"/>
            <a:ext cx="114300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0767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4196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7625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51054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5524500"/>
            <a:ext cx="5486400" cy="9906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Gestão de Energia e Otimizações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14375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Limitações de Poupança de Bateria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571500" y="2514600"/>
            <a:ext cx="17017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Telefone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2103180" y="2514600"/>
            <a:ext cx="20420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Poupança Ativa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3805029" y="2514600"/>
            <a:ext cx="20420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Alarmes Atrasados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571500" y="2857500"/>
            <a:ext cx="510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o Android 6 (Marshmallow), o Doze Mode adia tarefas de segundo plano para poupar bateria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609600" y="3657600"/>
            <a:ext cx="4126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pode atrasar alarmes para janelas flexíveis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609600" y="4000500"/>
            <a:ext cx="4823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modo de poupança, o Android pode atrasar notificações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09600" y="4343400"/>
            <a:ext cx="4777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todos os fabricantes aplicam o Doze da mesma forma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533400" y="49530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"Se usássemos o método simples set(...), o Android podia ter decidido: 'agora estou em Doze, não vou acordar às 15h certinhas, acusa às 15h05 e depois disparo o alarme deles junto com os outros'."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6572250" y="11811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Soluções de Alta Prioridade</a:t>
            </a:r>
            <a:endParaRPr lang="en-US" sz="1800" dirty="0"/>
          </a:p>
        </p:txBody>
      </p:sp>
      <p:sp>
        <p:nvSpPr>
          <p:cNvPr id="42" name="Text 11"/>
          <p:cNvSpPr/>
          <p:nvPr/>
        </p:nvSpPr>
        <p:spPr>
          <a:xfrm>
            <a:off x="6591300" y="190500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 Normal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6667500" y="2209800"/>
            <a:ext cx="2286000" cy="1104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alarmManager.set(
  AlarmManager.RTC_WAKEUP,
  triggerTimeMillis,
  pendingIntent
);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6743700" y="3390900"/>
            <a:ext cx="2743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Pode ser atrasado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9258300" y="190500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 Específico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9334500" y="2209800"/>
            <a:ext cx="2286000" cy="1104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alarmManager.setExactAndAllowWhileIdle(
  AlarmManager.RTC_WAKEUP,
  triggerTimeMillis,
  pendingIntent
);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9410700" y="3390900"/>
            <a:ext cx="2743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Garante precisão</a:t>
            </a:r>
            <a:endParaRPr lang="en-US" sz="900" dirty="0"/>
          </a:p>
        </p:txBody>
      </p:sp>
      <p:sp>
        <p:nvSpPr>
          <p:cNvPr id="48" name="Text 17"/>
          <p:cNvSpPr/>
          <p:nvPr/>
        </p:nvSpPr>
        <p:spPr>
          <a:xfrm>
            <a:off x="6553200" y="4038600"/>
            <a:ext cx="3154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setExact()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Garante precisão no tempo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553200" y="4381500"/>
            <a:ext cx="36233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AllowWhileIdle()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Ignora modo de poupança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553200" y="47244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RTC_WAKEUP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Acorda o dispositivo se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estiver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 “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dormir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6553200" y="5067300"/>
            <a:ext cx="5646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 mais forte dentro do que o Android permite a uma app normal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6477000" y="56769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Porque isto é importante: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Estamos no mesmo patamar que apps de alarmes, eventos de calendário e medicamentos, que também precisam de precisão temporal.</a:t>
            </a:r>
            <a:endParaRPr lang="en-US" sz="1200" dirty="0"/>
          </a:p>
        </p:txBody>
      </p:sp>
      <p:sp>
        <p:nvSpPr>
          <p:cNvPr id="53" name="Text 22"/>
          <p:cNvSpPr/>
          <p:nvPr/>
        </p:nvSpPr>
        <p:spPr>
          <a:xfrm>
            <a:off x="11370945" y="6686550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8/15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392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334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562100"/>
            <a:ext cx="548640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17145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1866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6925" y="192405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5600" y="17145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0" y="1866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025" y="19240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8700" y="17145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0625" y="186690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781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1242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695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0386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419600"/>
            <a:ext cx="548640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6825" y="582828"/>
            <a:ext cx="28575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3010" y="1013741"/>
            <a:ext cx="5486400" cy="392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3010" y="4980713"/>
            <a:ext cx="5486400" cy="1752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9918" y="5314088"/>
            <a:ext cx="5181600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8760" y="5582743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3502" y="5687518"/>
            <a:ext cx="17145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93598" y="5880257"/>
            <a:ext cx="116205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55660" y="5876063"/>
            <a:ext cx="1019175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32575" y="6407071"/>
            <a:ext cx="114300" cy="114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5648" y="6402603"/>
            <a:ext cx="114300" cy="114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35210" y="6412049"/>
            <a:ext cx="114300" cy="1143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MyApp - Configuração de Canais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685800" y="11049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Porqu</a:t>
            </a:r>
            <a:r>
              <a:rPr lang="pt-PT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ê</a:t>
            </a: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criar canais na Application?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895350" y="2247900"/>
            <a:ext cx="571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Arranque</a:t>
            </a:r>
            <a:endParaRPr lang="en-US" sz="900" dirty="0"/>
          </a:p>
        </p:txBody>
      </p:sp>
      <p:sp>
        <p:nvSpPr>
          <p:cNvPr id="34" name="Text 3"/>
          <p:cNvSpPr/>
          <p:nvPr/>
        </p:nvSpPr>
        <p:spPr>
          <a:xfrm>
            <a:off x="2701290" y="2247900"/>
            <a:ext cx="8458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Configuração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4707255" y="2247900"/>
            <a:ext cx="7200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900" dirty="0"/>
          </a:p>
        </p:txBody>
      </p:sp>
      <p:sp>
        <p:nvSpPr>
          <p:cNvPr id="36" name="Text 5"/>
          <p:cNvSpPr/>
          <p:nvPr/>
        </p:nvSpPr>
        <p:spPr>
          <a:xfrm>
            <a:off x="609600" y="2743200"/>
            <a:ext cx="5680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Garante que o canal existe antes de qualquer notificação ser mostrada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609600" y="30861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Funciona mesmo quando a app não está aberta (receiver diretamente no arranque)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609600" y="3657600"/>
            <a:ext cx="3749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Dá controlo ao utilizador sobre as notificações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09600" y="4000500"/>
            <a:ext cx="5452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personalização do canal pelo utilizador (som, vibração, etc)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533400" y="45720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Controlo ao Utilizador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533400" y="4914900"/>
            <a:ext cx="518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utilizador pode ir às definições do Android e dizer "este canal quero com som", "este canal quero sem vibração", "este canal quero oculto no ecrã de bloqueio".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6746875" y="553276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Código de Criação do Canal</a:t>
            </a:r>
            <a:endParaRPr lang="en-US" sz="1800" dirty="0"/>
          </a:p>
        </p:txBody>
      </p:sp>
      <p:sp>
        <p:nvSpPr>
          <p:cNvPr id="43" name="Text 12"/>
          <p:cNvSpPr/>
          <p:nvPr/>
        </p:nvSpPr>
        <p:spPr>
          <a:xfrm>
            <a:off x="6455410" y="1297203"/>
            <a:ext cx="5041553" cy="3581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public class MyApp extends Application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@Override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public void onCreate()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super.onCreate();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NotificationChannel channel = new NotificationChannel(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"visitas",                    // ID do canal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"Lembretes de Visita",        // Nome legível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NotificationManager.IMPORTANCE_HIGH  // Importância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NotificationManager manager =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getSystemService(NotificationManager.class);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if (manager != null)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manager.createNotificationChannel(channel);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6445885" y="5040765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Canal de Notificação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7182868" y="5622294"/>
            <a:ext cx="2708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Canal: "visitas"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7247890" y="5930500"/>
            <a:ext cx="1394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Lembretes de Visita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8503286" y="5901137"/>
            <a:ext cx="1223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Importância Alta</a:t>
            </a:r>
            <a:endParaRPr lang="en-US" sz="900" dirty="0"/>
          </a:p>
        </p:txBody>
      </p:sp>
      <p:sp>
        <p:nvSpPr>
          <p:cNvPr id="48" name="Text 17"/>
          <p:cNvSpPr/>
          <p:nvPr/>
        </p:nvSpPr>
        <p:spPr>
          <a:xfrm>
            <a:off x="6760210" y="6388021"/>
            <a:ext cx="13144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Mostrar com som</a:t>
            </a:r>
            <a:endParaRPr lang="en-US" sz="900" dirty="0"/>
          </a:p>
        </p:txBody>
      </p:sp>
      <p:sp>
        <p:nvSpPr>
          <p:cNvPr id="49" name="Text 18"/>
          <p:cNvSpPr/>
          <p:nvPr/>
        </p:nvSpPr>
        <p:spPr>
          <a:xfrm>
            <a:off x="8508048" y="6392999"/>
            <a:ext cx="12915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Destaque no ecrã</a:t>
            </a:r>
            <a:endParaRPr lang="en-US" sz="900" dirty="0"/>
          </a:p>
        </p:txBody>
      </p:sp>
      <p:sp>
        <p:nvSpPr>
          <p:cNvPr id="50" name="Text 19"/>
          <p:cNvSpPr/>
          <p:nvPr/>
        </p:nvSpPr>
        <p:spPr>
          <a:xfrm>
            <a:off x="10049510" y="6402603"/>
            <a:ext cx="1680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Permite personalização</a:t>
            </a:r>
            <a:endParaRPr lang="en-US" sz="900" dirty="0"/>
          </a:p>
        </p:txBody>
      </p:sp>
      <p:sp>
        <p:nvSpPr>
          <p:cNvPr id="51" name="Text 20"/>
          <p:cNvSpPr/>
          <p:nvPr/>
        </p:nvSpPr>
        <p:spPr>
          <a:xfrm>
            <a:off x="11289665" y="6663424"/>
            <a:ext cx="880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9/15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61374"/>
            <a:ext cx="5486400" cy="40636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45" y="5440956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75" y="5770609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75" y="6113509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75" y="6456409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6511" y="1211461"/>
            <a:ext cx="4883210" cy="186511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835" y="1284708"/>
            <a:ext cx="1123950" cy="5619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5660" y="1336791"/>
            <a:ext cx="140494" cy="14049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018" y="1513047"/>
            <a:ext cx="122932" cy="14049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2083" y="1292328"/>
            <a:ext cx="1123950" cy="5619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5008" y="1336791"/>
            <a:ext cx="122932" cy="14049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635" y="2207293"/>
            <a:ext cx="122932" cy="14049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2083" y="2014411"/>
            <a:ext cx="1123950" cy="5619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055" y="2031207"/>
            <a:ext cx="122932" cy="14049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7935" y="3276600"/>
            <a:ext cx="5057775" cy="235327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8435" y="3752405"/>
            <a:ext cx="2215159" cy="81790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7323" y="3752405"/>
            <a:ext cx="1897380" cy="797503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8436" y="4791861"/>
            <a:ext cx="2215158" cy="647508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9229" y="4791861"/>
            <a:ext cx="2167890" cy="64909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86506" y="4879776"/>
            <a:ext cx="122932" cy="140494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VisitReminderReceiver - Execução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655320" y="916437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Implementação do BroadcastReceiver</a:t>
            </a:r>
            <a:endParaRPr lang="en-US" sz="1800" dirty="0"/>
          </a:p>
        </p:txBody>
      </p:sp>
      <p:sp>
        <p:nvSpPr>
          <p:cNvPr id="46" name="Text 19"/>
          <p:cNvSpPr/>
          <p:nvPr/>
        </p:nvSpPr>
        <p:spPr>
          <a:xfrm>
            <a:off x="3909061" y="430884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9" name="Text 22"/>
          <p:cNvSpPr/>
          <p:nvPr/>
        </p:nvSpPr>
        <p:spPr>
          <a:xfrm>
            <a:off x="705485" y="5416103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 chamado pelo sistema quando o alarme dispara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739775" y="5732509"/>
            <a:ext cx="3806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 suficiente para construir a notificação</a:t>
            </a:r>
            <a:endParaRPr lang="en-US" sz="1200" dirty="0"/>
          </a:p>
        </p:txBody>
      </p:sp>
      <p:sp>
        <p:nvSpPr>
          <p:cNvPr id="51" name="Text 24"/>
          <p:cNvSpPr/>
          <p:nvPr/>
        </p:nvSpPr>
        <p:spPr>
          <a:xfrm>
            <a:off x="739775" y="6075409"/>
            <a:ext cx="4514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Coordenação com o canal "visitas" criado anteriormente</a:t>
            </a:r>
            <a:endParaRPr lang="en-US" sz="1200" dirty="0"/>
          </a:p>
        </p:txBody>
      </p:sp>
      <p:sp>
        <p:nvSpPr>
          <p:cNvPr id="52" name="Text 25"/>
          <p:cNvSpPr/>
          <p:nvPr/>
        </p:nvSpPr>
        <p:spPr>
          <a:xfrm>
            <a:off x="739775" y="6418309"/>
            <a:ext cx="4274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 com prioridade alta e auto-cancelamento</a:t>
            </a:r>
            <a:endParaRPr lang="en-US" sz="1200" dirty="0"/>
          </a:p>
        </p:txBody>
      </p:sp>
      <p:sp>
        <p:nvSpPr>
          <p:cNvPr id="53" name="Text 26"/>
          <p:cNvSpPr/>
          <p:nvPr/>
        </p:nvSpPr>
        <p:spPr>
          <a:xfrm>
            <a:off x="6629400" y="8382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Ciclo de Vida e Execução</a:t>
            </a:r>
            <a:endParaRPr lang="en-US" sz="1800" dirty="0"/>
          </a:p>
        </p:txBody>
      </p:sp>
      <p:sp>
        <p:nvSpPr>
          <p:cNvPr id="54" name="Text 27"/>
          <p:cNvSpPr/>
          <p:nvPr/>
        </p:nvSpPr>
        <p:spPr>
          <a:xfrm>
            <a:off x="6696075" y="1550150"/>
            <a:ext cx="1095851" cy="13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Alarme disparado</a:t>
            </a:r>
            <a:endParaRPr lang="en-US" sz="900" dirty="0"/>
          </a:p>
        </p:txBody>
      </p:sp>
      <p:sp>
        <p:nvSpPr>
          <p:cNvPr id="55" name="Text 28"/>
          <p:cNvSpPr/>
          <p:nvPr/>
        </p:nvSpPr>
        <p:spPr>
          <a:xfrm>
            <a:off x="9057323" y="1597775"/>
            <a:ext cx="1095851" cy="13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acordado</a:t>
            </a:r>
            <a:endParaRPr lang="en-US" sz="900" dirty="0"/>
          </a:p>
        </p:txBody>
      </p:sp>
      <p:sp>
        <p:nvSpPr>
          <p:cNvPr id="57" name="Text 30"/>
          <p:cNvSpPr/>
          <p:nvPr/>
        </p:nvSpPr>
        <p:spPr>
          <a:xfrm>
            <a:off x="9057323" y="2279765"/>
            <a:ext cx="1095851" cy="13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900" dirty="0"/>
          </a:p>
        </p:txBody>
      </p:sp>
      <p:sp>
        <p:nvSpPr>
          <p:cNvPr id="58" name="Text 31"/>
          <p:cNvSpPr/>
          <p:nvPr/>
        </p:nvSpPr>
        <p:spPr>
          <a:xfrm>
            <a:off x="5776793" y="275844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Receiver nasce, constrói a notificação e morre logo a seguir</a:t>
            </a:r>
            <a:endParaRPr lang="en-US" sz="1050" dirty="0"/>
          </a:p>
        </p:txBody>
      </p:sp>
      <p:sp>
        <p:nvSpPr>
          <p:cNvPr id="59" name="Text 32"/>
          <p:cNvSpPr/>
          <p:nvPr/>
        </p:nvSpPr>
        <p:spPr>
          <a:xfrm>
            <a:off x="6520815" y="3336133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Detalhes da Notificação</a:t>
            </a:r>
            <a:endParaRPr lang="en-US" sz="1500" dirty="0"/>
          </a:p>
        </p:txBody>
      </p:sp>
      <p:sp>
        <p:nvSpPr>
          <p:cNvPr id="60" name="Text 33"/>
          <p:cNvSpPr/>
          <p:nvPr/>
        </p:nvSpPr>
        <p:spPr>
          <a:xfrm>
            <a:off x="6642734" y="3750452"/>
            <a:ext cx="421481" cy="203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Ícone</a:t>
            </a:r>
            <a:endParaRPr lang="en-US" sz="1200" dirty="0"/>
          </a:p>
        </p:txBody>
      </p:sp>
      <p:sp>
        <p:nvSpPr>
          <p:cNvPr id="61" name="Text 34"/>
          <p:cNvSpPr/>
          <p:nvPr/>
        </p:nvSpPr>
        <p:spPr>
          <a:xfrm>
            <a:off x="6671310" y="4014084"/>
            <a:ext cx="2072283" cy="339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Definido com setSmallIcon(R.drawable.ic_notification)</a:t>
            </a:r>
            <a:endParaRPr lang="en-US" sz="1050" dirty="0"/>
          </a:p>
        </p:txBody>
      </p:sp>
      <p:sp>
        <p:nvSpPr>
          <p:cNvPr id="62" name="Text 35"/>
          <p:cNvSpPr/>
          <p:nvPr/>
        </p:nvSpPr>
        <p:spPr>
          <a:xfrm>
            <a:off x="9156779" y="3839092"/>
            <a:ext cx="432018" cy="203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Título</a:t>
            </a:r>
            <a:endParaRPr lang="en-US" sz="1200" dirty="0"/>
          </a:p>
        </p:txBody>
      </p:sp>
      <p:sp>
        <p:nvSpPr>
          <p:cNvPr id="63" name="Text 36"/>
          <p:cNvSpPr/>
          <p:nvPr/>
        </p:nvSpPr>
        <p:spPr>
          <a:xfrm>
            <a:off x="9271635" y="4188092"/>
            <a:ext cx="2697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"Lembrete de visita"</a:t>
            </a:r>
            <a:endParaRPr lang="en-US" sz="1050" dirty="0"/>
          </a:p>
        </p:txBody>
      </p:sp>
      <p:sp>
        <p:nvSpPr>
          <p:cNvPr id="64" name="Text 37"/>
          <p:cNvSpPr/>
          <p:nvPr/>
        </p:nvSpPr>
        <p:spPr>
          <a:xfrm>
            <a:off x="6718935" y="4854708"/>
            <a:ext cx="421481" cy="203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</a:t>
            </a:r>
            <a:endParaRPr lang="en-US" sz="1200" dirty="0"/>
          </a:p>
        </p:txBody>
      </p:sp>
      <p:sp>
        <p:nvSpPr>
          <p:cNvPr id="65" name="Text 38"/>
          <p:cNvSpPr/>
          <p:nvPr/>
        </p:nvSpPr>
        <p:spPr>
          <a:xfrm>
            <a:off x="6642735" y="5155352"/>
            <a:ext cx="2486739" cy="16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"Está na hora da visita agendada!"</a:t>
            </a:r>
            <a:endParaRPr lang="en-US" sz="1050" dirty="0"/>
          </a:p>
        </p:txBody>
      </p:sp>
      <p:sp>
        <p:nvSpPr>
          <p:cNvPr id="66" name="Text 39"/>
          <p:cNvSpPr/>
          <p:nvPr/>
        </p:nvSpPr>
        <p:spPr>
          <a:xfrm>
            <a:off x="9385132" y="4834664"/>
            <a:ext cx="474166" cy="203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Ações</a:t>
            </a:r>
            <a:endParaRPr lang="en-US" sz="1200" dirty="0"/>
          </a:p>
        </p:txBody>
      </p:sp>
      <p:sp>
        <p:nvSpPr>
          <p:cNvPr id="67" name="Text 40"/>
          <p:cNvSpPr/>
          <p:nvPr/>
        </p:nvSpPr>
        <p:spPr>
          <a:xfrm>
            <a:off x="9181109" y="5083351"/>
            <a:ext cx="2697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Auto-cancelamento após toque</a:t>
            </a:r>
            <a:endParaRPr lang="en-US" sz="1050" dirty="0"/>
          </a:p>
        </p:txBody>
      </p:sp>
      <p:sp>
        <p:nvSpPr>
          <p:cNvPr id="68" name="Text 41"/>
          <p:cNvSpPr/>
          <p:nvPr/>
        </p:nvSpPr>
        <p:spPr>
          <a:xfrm>
            <a:off x="11392814" y="6667501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10/15</a:t>
            </a:r>
            <a:endParaRPr lang="en-US" sz="1050" dirty="0"/>
          </a:p>
        </p:txBody>
      </p:sp>
      <p:pic>
        <p:nvPicPr>
          <p:cNvPr id="69" name="Image 11" descr="preencoded.png">
            <a:extLst>
              <a:ext uri="{FF2B5EF4-FFF2-40B4-BE49-F238E27FC236}">
                <a16:creationId xmlns:a16="http://schemas.microsoft.com/office/drawing/2014/main" id="{C9432A25-4746-8E07-52DB-5434B58770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6075" y="2014411"/>
            <a:ext cx="1123950" cy="561975"/>
          </a:xfrm>
          <a:prstGeom prst="rect">
            <a:avLst/>
          </a:prstGeom>
          <a:noFill/>
        </p:spPr>
      </p:pic>
      <p:sp>
        <p:nvSpPr>
          <p:cNvPr id="56" name="Text 29"/>
          <p:cNvSpPr/>
          <p:nvPr/>
        </p:nvSpPr>
        <p:spPr>
          <a:xfrm>
            <a:off x="6644640" y="2249154"/>
            <a:ext cx="1211759" cy="2396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</a:t>
            </a:r>
            <a:endParaRPr lang="en-US" sz="1200" dirty="0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B329ABD-2EC9-E105-6F85-697A17B38CAB}"/>
              </a:ext>
            </a:extLst>
          </p:cNvPr>
          <p:cNvSpPr txBox="1"/>
          <p:nvPr/>
        </p:nvSpPr>
        <p:spPr>
          <a:xfrm>
            <a:off x="381163" y="1329689"/>
            <a:ext cx="551576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 err="1">
                <a:solidFill>
                  <a:schemeClr val="bg1"/>
                </a:solidFill>
              </a:rPr>
              <a:t>public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void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onReceive</a:t>
            </a:r>
            <a:r>
              <a:rPr lang="pt-PT" sz="1600" dirty="0">
                <a:solidFill>
                  <a:schemeClr val="bg1"/>
                </a:solidFill>
              </a:rPr>
              <a:t>(</a:t>
            </a:r>
            <a:r>
              <a:rPr lang="pt-PT" sz="1600" dirty="0" err="1">
                <a:solidFill>
                  <a:schemeClr val="bg1"/>
                </a:solidFill>
              </a:rPr>
              <a:t>Context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context</a:t>
            </a:r>
            <a:r>
              <a:rPr lang="pt-PT" sz="1600" dirty="0">
                <a:solidFill>
                  <a:schemeClr val="bg1"/>
                </a:solidFill>
              </a:rPr>
              <a:t>, </a:t>
            </a:r>
            <a:r>
              <a:rPr lang="pt-PT" sz="1600" dirty="0" err="1">
                <a:solidFill>
                  <a:schemeClr val="bg1"/>
                </a:solidFill>
              </a:rPr>
              <a:t>Intent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intent</a:t>
            </a:r>
            <a:r>
              <a:rPr lang="pt-PT" sz="1600" dirty="0">
                <a:solidFill>
                  <a:schemeClr val="bg1"/>
                </a:solidFill>
              </a:rPr>
              <a:t>) {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String</a:t>
            </a:r>
            <a:r>
              <a:rPr lang="pt-PT" sz="1600" dirty="0">
                <a:solidFill>
                  <a:schemeClr val="bg1"/>
                </a:solidFill>
              </a:rPr>
              <a:t> cliente = </a:t>
            </a:r>
            <a:r>
              <a:rPr lang="pt-PT" sz="1600" dirty="0" err="1">
                <a:solidFill>
                  <a:schemeClr val="bg1"/>
                </a:solidFill>
              </a:rPr>
              <a:t>intent.getStringExtra</a:t>
            </a:r>
            <a:r>
              <a:rPr lang="pt-PT" sz="1600" dirty="0">
                <a:solidFill>
                  <a:schemeClr val="bg1"/>
                </a:solidFill>
              </a:rPr>
              <a:t>("cliente");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String</a:t>
            </a:r>
            <a:r>
              <a:rPr lang="pt-PT" sz="1600" dirty="0">
                <a:solidFill>
                  <a:schemeClr val="bg1"/>
                </a:solidFill>
              </a:rPr>
              <a:t> morada  = </a:t>
            </a:r>
            <a:r>
              <a:rPr lang="pt-PT" sz="1600" dirty="0" err="1">
                <a:solidFill>
                  <a:schemeClr val="bg1"/>
                </a:solidFill>
              </a:rPr>
              <a:t>intent.getStringExtra</a:t>
            </a:r>
            <a:r>
              <a:rPr lang="pt-PT" sz="1600" dirty="0">
                <a:solidFill>
                  <a:schemeClr val="bg1"/>
                </a:solidFill>
              </a:rPr>
              <a:t>("morada");</a:t>
            </a:r>
            <a:br>
              <a:rPr lang="pt-PT" sz="1600" dirty="0">
                <a:solidFill>
                  <a:schemeClr val="bg1"/>
                </a:solidFill>
              </a:rPr>
            </a:b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Intent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openApp</a:t>
            </a:r>
            <a:r>
              <a:rPr lang="pt-PT" sz="1600" dirty="0">
                <a:solidFill>
                  <a:schemeClr val="bg1"/>
                </a:solidFill>
              </a:rPr>
              <a:t> = </a:t>
            </a:r>
            <a:r>
              <a:rPr lang="pt-PT" sz="1600" dirty="0" err="1">
                <a:solidFill>
                  <a:schemeClr val="bg1"/>
                </a:solidFill>
              </a:rPr>
              <a:t>new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Intent</a:t>
            </a:r>
            <a:r>
              <a:rPr lang="pt-PT" sz="1600" dirty="0">
                <a:solidFill>
                  <a:schemeClr val="bg1"/>
                </a:solidFill>
              </a:rPr>
              <a:t>(</a:t>
            </a:r>
            <a:r>
              <a:rPr lang="pt-PT" sz="1600" dirty="0" err="1">
                <a:solidFill>
                  <a:schemeClr val="bg1"/>
                </a:solidFill>
              </a:rPr>
              <a:t>context</a:t>
            </a:r>
            <a:r>
              <a:rPr lang="pt-PT" sz="1600" dirty="0">
                <a:solidFill>
                  <a:schemeClr val="bg1"/>
                </a:solidFill>
              </a:rPr>
              <a:t>, </a:t>
            </a:r>
            <a:r>
              <a:rPr lang="pt-PT" sz="1600" dirty="0" err="1">
                <a:solidFill>
                  <a:schemeClr val="bg1"/>
                </a:solidFill>
              </a:rPr>
              <a:t>MainActivity.class</a:t>
            </a:r>
            <a:r>
              <a:rPr lang="pt-PT" sz="1600" dirty="0">
                <a:solidFill>
                  <a:schemeClr val="bg1"/>
                </a:solidFill>
              </a:rPr>
              <a:t>);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PendingIntent</a:t>
            </a:r>
            <a:r>
              <a:rPr lang="pt-PT" sz="1600" dirty="0">
                <a:solidFill>
                  <a:schemeClr val="bg1"/>
                </a:solidFill>
              </a:rPr>
              <a:t> pi = </a:t>
            </a:r>
            <a:r>
              <a:rPr lang="pt-PT" sz="1600" dirty="0" err="1">
                <a:solidFill>
                  <a:schemeClr val="bg1"/>
                </a:solidFill>
              </a:rPr>
              <a:t>PendingIntent.</a:t>
            </a:r>
            <a:r>
              <a:rPr lang="pt-PT" sz="1600" i="1" dirty="0" err="1">
                <a:solidFill>
                  <a:schemeClr val="bg1"/>
                </a:solidFill>
              </a:rPr>
              <a:t>getActivity</a:t>
            </a:r>
            <a:r>
              <a:rPr lang="pt-PT" sz="1600" dirty="0">
                <a:solidFill>
                  <a:schemeClr val="bg1"/>
                </a:solidFill>
              </a:rPr>
              <a:t>(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        </a:t>
            </a:r>
            <a:r>
              <a:rPr lang="pt-PT" sz="1600" dirty="0" err="1">
                <a:solidFill>
                  <a:schemeClr val="bg1"/>
                </a:solidFill>
              </a:rPr>
              <a:t>context</a:t>
            </a:r>
            <a:r>
              <a:rPr lang="pt-PT" sz="1600" dirty="0">
                <a:solidFill>
                  <a:schemeClr val="bg1"/>
                </a:solidFill>
              </a:rPr>
              <a:t>, 0, </a:t>
            </a:r>
            <a:r>
              <a:rPr lang="pt-PT" sz="1600" dirty="0" err="1">
                <a:solidFill>
                  <a:schemeClr val="bg1"/>
                </a:solidFill>
              </a:rPr>
              <a:t>openApp</a:t>
            </a:r>
            <a:r>
              <a:rPr lang="pt-PT" sz="1600" dirty="0">
                <a:solidFill>
                  <a:schemeClr val="bg1"/>
                </a:solidFill>
              </a:rPr>
              <a:t>,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        </a:t>
            </a:r>
            <a:r>
              <a:rPr lang="pt-PT" sz="1600" dirty="0" err="1">
                <a:solidFill>
                  <a:schemeClr val="bg1"/>
                </a:solidFill>
              </a:rPr>
              <a:t>PendingIntent.</a:t>
            </a:r>
            <a:r>
              <a:rPr lang="pt-PT" sz="1600" i="1" dirty="0" err="1">
                <a:solidFill>
                  <a:schemeClr val="bg1"/>
                </a:solidFill>
              </a:rPr>
              <a:t>FLAG_UPDATE_CURRENT</a:t>
            </a:r>
            <a:r>
              <a:rPr lang="pt-PT" sz="1600" i="1" dirty="0">
                <a:solidFill>
                  <a:schemeClr val="bg1"/>
                </a:solidFill>
              </a:rPr>
              <a:t> </a:t>
            </a:r>
            <a:r>
              <a:rPr lang="pt-PT" sz="1600" dirty="0">
                <a:solidFill>
                  <a:schemeClr val="bg1"/>
                </a:solidFill>
              </a:rPr>
              <a:t>| </a:t>
            </a:r>
            <a:r>
              <a:rPr lang="pt-PT" sz="1600" dirty="0" err="1">
                <a:solidFill>
                  <a:schemeClr val="bg1"/>
                </a:solidFill>
              </a:rPr>
              <a:t>PendingIntent.</a:t>
            </a:r>
            <a:r>
              <a:rPr lang="pt-PT" sz="1600" i="1" dirty="0" err="1">
                <a:solidFill>
                  <a:schemeClr val="bg1"/>
                </a:solidFill>
              </a:rPr>
              <a:t>FLAG_IMMUTABLE</a:t>
            </a:r>
            <a:br>
              <a:rPr lang="pt-PT" sz="1600" i="1" dirty="0">
                <a:solidFill>
                  <a:schemeClr val="bg1"/>
                </a:solidFill>
              </a:rPr>
            </a:br>
            <a:r>
              <a:rPr lang="pt-PT" sz="1600" i="1" dirty="0">
                <a:solidFill>
                  <a:schemeClr val="bg1"/>
                </a:solidFill>
              </a:rPr>
              <a:t>    </a:t>
            </a:r>
            <a:r>
              <a:rPr lang="pt-PT" sz="1600" dirty="0">
                <a:solidFill>
                  <a:schemeClr val="bg1"/>
                </a:solidFill>
              </a:rPr>
              <a:t>);</a:t>
            </a:r>
            <a:br>
              <a:rPr lang="pt-PT" sz="1600" dirty="0">
                <a:solidFill>
                  <a:schemeClr val="bg1"/>
                </a:solidFill>
              </a:rPr>
            </a:b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String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title</a:t>
            </a:r>
            <a:r>
              <a:rPr lang="pt-PT" sz="1600" dirty="0">
                <a:solidFill>
                  <a:schemeClr val="bg1"/>
                </a:solidFill>
              </a:rPr>
              <a:t> = "Visita de técnico";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</a:t>
            </a:r>
            <a:r>
              <a:rPr lang="pt-PT" sz="1600" dirty="0" err="1">
                <a:solidFill>
                  <a:schemeClr val="bg1"/>
                </a:solidFill>
              </a:rPr>
              <a:t>String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text</a:t>
            </a:r>
            <a:r>
              <a:rPr lang="pt-PT" sz="1600" dirty="0">
                <a:solidFill>
                  <a:schemeClr val="bg1"/>
                </a:solidFill>
              </a:rPr>
              <a:t>  = "Cliente: " + (cliente == </a:t>
            </a:r>
            <a:r>
              <a:rPr lang="pt-PT" sz="1600" dirty="0" err="1">
                <a:solidFill>
                  <a:schemeClr val="bg1"/>
                </a:solidFill>
              </a:rPr>
              <a:t>null</a:t>
            </a:r>
            <a:r>
              <a:rPr lang="pt-PT" sz="1600" dirty="0">
                <a:solidFill>
                  <a:schemeClr val="bg1"/>
                </a:solidFill>
              </a:rPr>
              <a:t> ? "—" : cliente)</a:t>
            </a:r>
            <a:br>
              <a:rPr lang="pt-PT" sz="1600" dirty="0">
                <a:solidFill>
                  <a:schemeClr val="bg1"/>
                </a:solidFill>
              </a:rPr>
            </a:br>
            <a:r>
              <a:rPr lang="pt-PT" sz="1600" dirty="0">
                <a:solidFill>
                  <a:schemeClr val="bg1"/>
                </a:solidFill>
              </a:rPr>
              <a:t>            + " • Morada: " + (morada == </a:t>
            </a:r>
            <a:r>
              <a:rPr lang="pt-PT" sz="1600" dirty="0" err="1">
                <a:solidFill>
                  <a:schemeClr val="bg1"/>
                </a:solidFill>
              </a:rPr>
              <a:t>null</a:t>
            </a:r>
            <a:r>
              <a:rPr lang="pt-PT" sz="1600" dirty="0">
                <a:solidFill>
                  <a:schemeClr val="bg1"/>
                </a:solidFill>
              </a:rPr>
              <a:t> ? "—" : morada);</a:t>
            </a:r>
          </a:p>
          <a:p>
            <a:endParaRPr lang="pt-P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334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562100"/>
            <a:ext cx="6629400" cy="2971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6101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8768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1435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4102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6769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9436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1133475"/>
            <a:ext cx="20002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7600" y="1562100"/>
            <a:ext cx="43434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0" y="1714500"/>
            <a:ext cx="40386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4300" y="18288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0025" y="19050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7600" y="4876800"/>
            <a:ext cx="4343400" cy="647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1900" y="50292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1900" y="5257800"/>
            <a:ext cx="133350" cy="1333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da Notificação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742950" y="1104900"/>
            <a:ext cx="7955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Implementação do NotificationCompat.Builder</a:t>
            </a:r>
            <a:endParaRPr lang="en-US" sz="1800" dirty="0"/>
          </a:p>
        </p:txBody>
      </p:sp>
      <p:sp>
        <p:nvSpPr>
          <p:cNvPr id="38" name="Text 11"/>
          <p:cNvSpPr/>
          <p:nvPr/>
        </p:nvSpPr>
        <p:spPr>
          <a:xfrm>
            <a:off x="4914900" y="2324100"/>
            <a:ext cx="44196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        </a:t>
            </a:r>
            <a:endParaRPr lang="en-US" sz="1050" dirty="0"/>
          </a:p>
        </p:txBody>
      </p:sp>
      <p:sp>
        <p:nvSpPr>
          <p:cNvPr id="61" name="Text 34"/>
          <p:cNvSpPr/>
          <p:nvPr/>
        </p:nvSpPr>
        <p:spPr>
          <a:xfrm>
            <a:off x="590550" y="4572000"/>
            <a:ext cx="5646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1: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Método chamado automaticamente pelo Android quando chega a hora</a:t>
            </a:r>
            <a:endParaRPr lang="en-US" sz="1050" dirty="0"/>
          </a:p>
        </p:txBody>
      </p:sp>
      <p:sp>
        <p:nvSpPr>
          <p:cNvPr id="62" name="Text 35"/>
          <p:cNvSpPr/>
          <p:nvPr/>
        </p:nvSpPr>
        <p:spPr>
          <a:xfrm>
            <a:off x="590550" y="4838700"/>
            <a:ext cx="4263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2: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Construtor com canal "visitas" criado anteriormente</a:t>
            </a:r>
            <a:endParaRPr lang="en-US" sz="1050" dirty="0"/>
          </a:p>
        </p:txBody>
      </p:sp>
      <p:sp>
        <p:nvSpPr>
          <p:cNvPr id="63" name="Text 36"/>
          <p:cNvSpPr/>
          <p:nvPr/>
        </p:nvSpPr>
        <p:spPr>
          <a:xfrm>
            <a:off x="590550" y="5105400"/>
            <a:ext cx="29603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3: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Definição do ícone da notificação</a:t>
            </a:r>
            <a:endParaRPr lang="en-US" sz="1050" dirty="0"/>
          </a:p>
        </p:txBody>
      </p:sp>
      <p:sp>
        <p:nvSpPr>
          <p:cNvPr id="64" name="Text 37"/>
          <p:cNvSpPr/>
          <p:nvPr/>
        </p:nvSpPr>
        <p:spPr>
          <a:xfrm>
            <a:off x="590550" y="5372100"/>
            <a:ext cx="2743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4-5: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Título e texto da notificação</a:t>
            </a:r>
            <a:endParaRPr lang="en-US" sz="1050" dirty="0"/>
          </a:p>
        </p:txBody>
      </p:sp>
      <p:sp>
        <p:nvSpPr>
          <p:cNvPr id="65" name="Text 38"/>
          <p:cNvSpPr/>
          <p:nvPr/>
        </p:nvSpPr>
        <p:spPr>
          <a:xfrm>
            <a:off x="590550" y="56388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6: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Definição da prioridade alta</a:t>
            </a:r>
            <a:endParaRPr lang="en-US" sz="1050" dirty="0"/>
          </a:p>
        </p:txBody>
      </p:sp>
      <p:sp>
        <p:nvSpPr>
          <p:cNvPr id="66" name="Text 39"/>
          <p:cNvSpPr/>
          <p:nvPr/>
        </p:nvSpPr>
        <p:spPr>
          <a:xfrm>
            <a:off x="590550" y="5905500"/>
            <a:ext cx="3451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 7: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Configuração para auto-fechar ao tocar</a:t>
            </a:r>
            <a:endParaRPr lang="en-US" sz="1050" dirty="0"/>
          </a:p>
        </p:txBody>
      </p:sp>
      <p:sp>
        <p:nvSpPr>
          <p:cNvPr id="67" name="Text 40"/>
          <p:cNvSpPr/>
          <p:nvPr/>
        </p:nvSpPr>
        <p:spPr>
          <a:xfrm>
            <a:off x="7743825" y="1104900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Visualização e Dicas</a:t>
            </a:r>
            <a:endParaRPr lang="en-US" sz="1800" dirty="0"/>
          </a:p>
        </p:txBody>
      </p:sp>
      <p:sp>
        <p:nvSpPr>
          <p:cNvPr id="68" name="Text 41"/>
          <p:cNvSpPr/>
          <p:nvPr/>
        </p:nvSpPr>
        <p:spPr>
          <a:xfrm>
            <a:off x="8153400" y="1833563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visita</a:t>
            </a:r>
            <a:endParaRPr lang="en-US" sz="900" dirty="0"/>
          </a:p>
        </p:txBody>
      </p:sp>
      <p:sp>
        <p:nvSpPr>
          <p:cNvPr id="69" name="Text 42"/>
          <p:cNvSpPr/>
          <p:nvPr/>
        </p:nvSpPr>
        <p:spPr>
          <a:xfrm>
            <a:off x="8153400" y="1985963"/>
            <a:ext cx="16002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Está na hora da visita agendada!</a:t>
            </a:r>
            <a:endParaRPr lang="en-US" sz="750" dirty="0"/>
          </a:p>
        </p:txBody>
      </p:sp>
      <p:sp>
        <p:nvSpPr>
          <p:cNvPr id="70" name="Text 43"/>
          <p:cNvSpPr/>
          <p:nvPr/>
        </p:nvSpPr>
        <p:spPr>
          <a:xfrm>
            <a:off x="7848600" y="2324100"/>
            <a:ext cx="20802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Canal: "visitas" (importância alta)</a:t>
            </a:r>
            <a:endParaRPr lang="en-US" sz="900" dirty="0"/>
          </a:p>
        </p:txBody>
      </p:sp>
      <p:sp>
        <p:nvSpPr>
          <p:cNvPr id="71" name="Text 44"/>
          <p:cNvSpPr/>
          <p:nvPr/>
        </p:nvSpPr>
        <p:spPr>
          <a:xfrm>
            <a:off x="7867650" y="2514600"/>
            <a:ext cx="960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Prioridade: Alta</a:t>
            </a:r>
            <a:endParaRPr lang="en-US" sz="900" dirty="0"/>
          </a:p>
        </p:txBody>
      </p:sp>
      <p:sp>
        <p:nvSpPr>
          <p:cNvPr id="72" name="Text 45"/>
          <p:cNvSpPr/>
          <p:nvPr/>
        </p:nvSpPr>
        <p:spPr>
          <a:xfrm>
            <a:off x="7867650" y="2705100"/>
            <a:ext cx="18173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Visibilidade: Ecrã de bloqueio</a:t>
            </a:r>
            <a:endParaRPr lang="en-US" sz="900" dirty="0"/>
          </a:p>
        </p:txBody>
      </p:sp>
      <p:sp>
        <p:nvSpPr>
          <p:cNvPr id="73" name="Text 46"/>
          <p:cNvSpPr/>
          <p:nvPr/>
        </p:nvSpPr>
        <p:spPr>
          <a:xfrm>
            <a:off x="7467600" y="33147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Personalização</a:t>
            </a:r>
            <a:endParaRPr lang="en-US" sz="1350" dirty="0"/>
          </a:p>
        </p:txBody>
      </p:sp>
      <p:sp>
        <p:nvSpPr>
          <p:cNvPr id="74" name="Text 47"/>
          <p:cNvSpPr/>
          <p:nvPr/>
        </p:nvSpPr>
        <p:spPr>
          <a:xfrm>
            <a:off x="7677150" y="3657600"/>
            <a:ext cx="246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Adicionar ações (ex: "Adiar 10 min")</a:t>
            </a:r>
            <a:endParaRPr lang="en-US" sz="1050" dirty="0"/>
          </a:p>
        </p:txBody>
      </p:sp>
      <p:sp>
        <p:nvSpPr>
          <p:cNvPr id="75" name="Text 48"/>
          <p:cNvSpPr/>
          <p:nvPr/>
        </p:nvSpPr>
        <p:spPr>
          <a:xfrm>
            <a:off x="7677150" y="3924300"/>
            <a:ext cx="3017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Embrulhar em PendingIntent para navegar</a:t>
            </a:r>
            <a:endParaRPr lang="en-US" sz="1050" dirty="0"/>
          </a:p>
        </p:txBody>
      </p:sp>
      <p:sp>
        <p:nvSpPr>
          <p:cNvPr id="76" name="Text 49"/>
          <p:cNvSpPr/>
          <p:nvPr/>
        </p:nvSpPr>
        <p:spPr>
          <a:xfrm>
            <a:off x="7677150" y="4191000"/>
            <a:ext cx="2228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 agrupadas por dia</a:t>
            </a:r>
            <a:endParaRPr lang="en-US" sz="1050" dirty="0"/>
          </a:p>
        </p:txBody>
      </p:sp>
      <p:sp>
        <p:nvSpPr>
          <p:cNvPr id="77" name="Text 50"/>
          <p:cNvSpPr/>
          <p:nvPr/>
        </p:nvSpPr>
        <p:spPr>
          <a:xfrm>
            <a:off x="7467600" y="45339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pode falhar</a:t>
            </a:r>
            <a:endParaRPr lang="en-US" sz="1350" dirty="0"/>
          </a:p>
        </p:txBody>
      </p:sp>
      <p:sp>
        <p:nvSpPr>
          <p:cNvPr id="78" name="Text 51"/>
          <p:cNvSpPr/>
          <p:nvPr/>
        </p:nvSpPr>
        <p:spPr>
          <a:xfrm>
            <a:off x="7791450" y="4991100"/>
            <a:ext cx="2606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Canal errado = notificação silenciosa</a:t>
            </a:r>
            <a:endParaRPr lang="en-US" sz="1050" dirty="0"/>
          </a:p>
        </p:txBody>
      </p:sp>
      <p:sp>
        <p:nvSpPr>
          <p:cNvPr id="79" name="Text 52"/>
          <p:cNvSpPr/>
          <p:nvPr/>
        </p:nvSpPr>
        <p:spPr>
          <a:xfrm>
            <a:off x="7791450" y="5219700"/>
            <a:ext cx="3040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ícone = notificação pode não aparecer</a:t>
            </a:r>
            <a:endParaRPr lang="en-US" sz="1050" dirty="0"/>
          </a:p>
        </p:txBody>
      </p:sp>
      <p:sp>
        <p:nvSpPr>
          <p:cNvPr id="80" name="Text 53"/>
          <p:cNvSpPr/>
          <p:nvPr/>
        </p:nvSpPr>
        <p:spPr>
          <a:xfrm>
            <a:off x="11325225" y="66675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11/15</a:t>
            </a:r>
            <a:endParaRPr lang="en-US" sz="1050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292AAD6-224D-E496-5AD1-737A215061DB}"/>
              </a:ext>
            </a:extLst>
          </p:cNvPr>
          <p:cNvSpPr txBox="1"/>
          <p:nvPr/>
        </p:nvSpPr>
        <p:spPr>
          <a:xfrm>
            <a:off x="463848" y="1495425"/>
            <a:ext cx="6539905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300" dirty="0">
                <a:solidFill>
                  <a:schemeClr val="bg1"/>
                </a:solidFill>
              </a:rPr>
              <a:t> </a:t>
            </a:r>
            <a:r>
              <a:rPr lang="pt-PT" sz="1300" dirty="0" err="1">
                <a:solidFill>
                  <a:schemeClr val="bg1"/>
                </a:solidFill>
              </a:rPr>
              <a:t>NotificationCompat.Builder</a:t>
            </a:r>
            <a:r>
              <a:rPr lang="pt-PT" sz="1300" dirty="0">
                <a:solidFill>
                  <a:schemeClr val="bg1"/>
                </a:solidFill>
              </a:rPr>
              <a:t> n = </a:t>
            </a:r>
            <a:r>
              <a:rPr lang="pt-PT" sz="1300" dirty="0" err="1">
                <a:solidFill>
                  <a:schemeClr val="bg1"/>
                </a:solidFill>
              </a:rPr>
              <a:t>new</a:t>
            </a:r>
            <a:r>
              <a:rPr lang="pt-PT" sz="1300" dirty="0">
                <a:solidFill>
                  <a:schemeClr val="bg1"/>
                </a:solidFill>
              </a:rPr>
              <a:t> </a:t>
            </a:r>
            <a:r>
              <a:rPr lang="pt-PT" sz="1300" dirty="0" err="1">
                <a:solidFill>
                  <a:schemeClr val="bg1"/>
                </a:solidFill>
              </a:rPr>
              <a:t>NotificationCompat.Builder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context</a:t>
            </a:r>
            <a:r>
              <a:rPr lang="pt-PT" sz="1300" dirty="0">
                <a:solidFill>
                  <a:schemeClr val="bg1"/>
                </a:solidFill>
              </a:rPr>
              <a:t>, </a:t>
            </a:r>
            <a:r>
              <a:rPr lang="pt-PT" sz="1300" dirty="0" err="1">
                <a:solidFill>
                  <a:schemeClr val="bg1"/>
                </a:solidFill>
              </a:rPr>
              <a:t>MyApp.</a:t>
            </a:r>
            <a:r>
              <a:rPr lang="pt-PT" sz="1300" i="1" dirty="0" err="1">
                <a:solidFill>
                  <a:schemeClr val="bg1"/>
                </a:solidFill>
              </a:rPr>
              <a:t>CHANNEL_ID</a:t>
            </a:r>
            <a:r>
              <a:rPr lang="pt-PT" sz="1300" dirty="0">
                <a:solidFill>
                  <a:schemeClr val="bg1"/>
                </a:solidFill>
              </a:rPr>
              <a:t>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setSmallIcon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android.R.drawable.</a:t>
            </a:r>
            <a:r>
              <a:rPr lang="pt-PT" sz="1300" i="1" dirty="0" err="1">
                <a:solidFill>
                  <a:schemeClr val="bg1"/>
                </a:solidFill>
              </a:rPr>
              <a:t>ic_menu_my_calendar</a:t>
            </a:r>
            <a:r>
              <a:rPr lang="pt-PT" sz="1300" dirty="0">
                <a:solidFill>
                  <a:schemeClr val="bg1"/>
                </a:solidFill>
              </a:rPr>
              <a:t>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setContentTitle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title</a:t>
            </a:r>
            <a:r>
              <a:rPr lang="pt-PT" sz="1300" dirty="0">
                <a:solidFill>
                  <a:schemeClr val="bg1"/>
                </a:solidFill>
              </a:rPr>
              <a:t>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setContentText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text</a:t>
            </a:r>
            <a:r>
              <a:rPr lang="pt-PT" sz="1300" dirty="0">
                <a:solidFill>
                  <a:schemeClr val="bg1"/>
                </a:solidFill>
              </a:rPr>
              <a:t>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setStyle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new</a:t>
            </a:r>
            <a:r>
              <a:rPr lang="pt-PT" sz="1300" dirty="0">
                <a:solidFill>
                  <a:schemeClr val="bg1"/>
                </a:solidFill>
              </a:rPr>
              <a:t> </a:t>
            </a:r>
            <a:r>
              <a:rPr lang="pt-PT" sz="1300" dirty="0" err="1">
                <a:solidFill>
                  <a:schemeClr val="bg1"/>
                </a:solidFill>
              </a:rPr>
              <a:t>NotificationCompat.BigTextStyle</a:t>
            </a:r>
            <a:r>
              <a:rPr lang="pt-PT" sz="1300" dirty="0">
                <a:solidFill>
                  <a:schemeClr val="bg1"/>
                </a:solidFill>
              </a:rPr>
              <a:t>().</a:t>
            </a:r>
            <a:r>
              <a:rPr lang="pt-PT" sz="1300" dirty="0" err="1">
                <a:solidFill>
                  <a:schemeClr val="bg1"/>
                </a:solidFill>
              </a:rPr>
              <a:t>bigText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text</a:t>
            </a:r>
            <a:r>
              <a:rPr lang="pt-PT" sz="1300" dirty="0">
                <a:solidFill>
                  <a:schemeClr val="bg1"/>
                </a:solidFill>
              </a:rPr>
              <a:t>))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setContentIntent</a:t>
            </a:r>
            <a:r>
              <a:rPr lang="pt-PT" sz="1300" dirty="0">
                <a:solidFill>
                  <a:schemeClr val="bg1"/>
                </a:solidFill>
              </a:rPr>
              <a:t>(pi)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setAutoCancel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true</a:t>
            </a:r>
            <a:r>
              <a:rPr lang="pt-PT" sz="1300" dirty="0">
                <a:solidFill>
                  <a:schemeClr val="bg1"/>
                </a:solidFill>
              </a:rPr>
              <a:t>)</a:t>
            </a: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        .</a:t>
            </a:r>
            <a:r>
              <a:rPr lang="pt-PT" sz="1300" dirty="0" err="1">
                <a:solidFill>
                  <a:schemeClr val="bg1"/>
                </a:solidFill>
              </a:rPr>
              <a:t>setPriority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NotificationCompat.</a:t>
            </a:r>
            <a:r>
              <a:rPr lang="pt-PT" sz="1300" i="1" dirty="0" err="1">
                <a:solidFill>
                  <a:schemeClr val="bg1"/>
                </a:solidFill>
              </a:rPr>
              <a:t>PRIORITY_DEFAULT</a:t>
            </a:r>
            <a:r>
              <a:rPr lang="pt-PT" sz="1300" dirty="0">
                <a:solidFill>
                  <a:schemeClr val="bg1"/>
                </a:solidFill>
              </a:rPr>
              <a:t>);</a:t>
            </a:r>
            <a:br>
              <a:rPr lang="pt-PT" sz="1300" dirty="0">
                <a:solidFill>
                  <a:schemeClr val="bg1"/>
                </a:solidFill>
              </a:rPr>
            </a:b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</a:t>
            </a:r>
            <a:r>
              <a:rPr lang="pt-PT" sz="1300" dirty="0" err="1">
                <a:solidFill>
                  <a:schemeClr val="bg1"/>
                </a:solidFill>
              </a:rPr>
              <a:t>NotificationManagerCompat.</a:t>
            </a:r>
            <a:r>
              <a:rPr lang="pt-PT" sz="1300" i="1" dirty="0" err="1">
                <a:solidFill>
                  <a:schemeClr val="bg1"/>
                </a:solidFill>
              </a:rPr>
              <a:t>from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context</a:t>
            </a:r>
            <a:r>
              <a:rPr lang="pt-PT" sz="1300" dirty="0">
                <a:solidFill>
                  <a:schemeClr val="bg1"/>
                </a:solidFill>
              </a:rPr>
              <a:t>).</a:t>
            </a:r>
            <a:r>
              <a:rPr lang="pt-PT" sz="1300" dirty="0" err="1">
                <a:solidFill>
                  <a:schemeClr val="bg1"/>
                </a:solidFill>
              </a:rPr>
              <a:t>notify</a:t>
            </a:r>
            <a:r>
              <a:rPr lang="pt-PT" sz="1300" dirty="0">
                <a:solidFill>
                  <a:schemeClr val="bg1"/>
                </a:solidFill>
              </a:rPr>
              <a:t>((</a:t>
            </a:r>
            <a:r>
              <a:rPr lang="pt-PT" sz="1300" dirty="0" err="1">
                <a:solidFill>
                  <a:schemeClr val="bg1"/>
                </a:solidFill>
              </a:rPr>
              <a:t>int</a:t>
            </a:r>
            <a:r>
              <a:rPr lang="pt-PT" sz="1300" dirty="0">
                <a:solidFill>
                  <a:schemeClr val="bg1"/>
                </a:solidFill>
              </a:rPr>
              <a:t>) </a:t>
            </a:r>
            <a:r>
              <a:rPr lang="pt-PT" sz="1300" dirty="0" err="1">
                <a:solidFill>
                  <a:schemeClr val="bg1"/>
                </a:solidFill>
              </a:rPr>
              <a:t>System.</a:t>
            </a:r>
            <a:r>
              <a:rPr lang="pt-PT" sz="1300" i="1" dirty="0" err="1">
                <a:solidFill>
                  <a:schemeClr val="bg1"/>
                </a:solidFill>
              </a:rPr>
              <a:t>currentTimeMillis</a:t>
            </a:r>
            <a:r>
              <a:rPr lang="pt-PT" sz="1300" dirty="0">
                <a:solidFill>
                  <a:schemeClr val="bg1"/>
                </a:solidFill>
              </a:rPr>
              <a:t>(), </a:t>
            </a:r>
            <a:r>
              <a:rPr lang="pt-PT" sz="1300" dirty="0" err="1">
                <a:solidFill>
                  <a:schemeClr val="bg1"/>
                </a:solidFill>
              </a:rPr>
              <a:t>n.build</a:t>
            </a:r>
            <a:r>
              <a:rPr lang="pt-PT" sz="1300" dirty="0">
                <a:solidFill>
                  <a:schemeClr val="bg1"/>
                </a:solidFill>
              </a:rPr>
              <a:t>());</a:t>
            </a:r>
            <a:br>
              <a:rPr lang="pt-PT" sz="1300" dirty="0">
                <a:solidFill>
                  <a:schemeClr val="bg1"/>
                </a:solidFill>
              </a:rPr>
            </a:br>
            <a:br>
              <a:rPr lang="pt-PT" sz="1300" dirty="0">
                <a:solidFill>
                  <a:schemeClr val="bg1"/>
                </a:solidFill>
              </a:rPr>
            </a:br>
            <a:r>
              <a:rPr lang="pt-PT" sz="1300" dirty="0">
                <a:solidFill>
                  <a:schemeClr val="bg1"/>
                </a:solidFill>
              </a:rPr>
              <a:t>    </a:t>
            </a:r>
            <a:r>
              <a:rPr lang="pt-PT" sz="1300" dirty="0" err="1">
                <a:solidFill>
                  <a:schemeClr val="bg1"/>
                </a:solidFill>
              </a:rPr>
              <a:t>context.stopService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new</a:t>
            </a:r>
            <a:r>
              <a:rPr lang="pt-PT" sz="1300" dirty="0">
                <a:solidFill>
                  <a:schemeClr val="bg1"/>
                </a:solidFill>
              </a:rPr>
              <a:t> </a:t>
            </a:r>
            <a:r>
              <a:rPr lang="pt-PT" sz="1300" dirty="0" err="1">
                <a:solidFill>
                  <a:schemeClr val="bg1"/>
                </a:solidFill>
              </a:rPr>
              <a:t>Intent</a:t>
            </a:r>
            <a:r>
              <a:rPr lang="pt-PT" sz="1300" dirty="0">
                <a:solidFill>
                  <a:schemeClr val="bg1"/>
                </a:solidFill>
              </a:rPr>
              <a:t>(</a:t>
            </a:r>
            <a:r>
              <a:rPr lang="pt-PT" sz="1300" dirty="0" err="1">
                <a:solidFill>
                  <a:schemeClr val="bg1"/>
                </a:solidFill>
              </a:rPr>
              <a:t>context</a:t>
            </a:r>
            <a:r>
              <a:rPr lang="pt-PT" sz="1300" dirty="0">
                <a:solidFill>
                  <a:schemeClr val="bg1"/>
                </a:solidFill>
              </a:rPr>
              <a:t>, </a:t>
            </a:r>
            <a:r>
              <a:rPr lang="pt-PT" sz="1300" dirty="0" err="1">
                <a:solidFill>
                  <a:schemeClr val="bg1"/>
                </a:solidFill>
              </a:rPr>
              <a:t>VisitSchedulerService.class</a:t>
            </a:r>
            <a:r>
              <a:rPr lang="pt-PT" sz="1300" dirty="0">
                <a:solidFill>
                  <a:schemeClr val="bg1"/>
                </a:solidFill>
              </a:rPr>
              <a:t>)); </a:t>
            </a:r>
          </a:p>
          <a:p>
            <a:r>
              <a:rPr lang="pt-PT" sz="13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85" name="Image 10" descr="preencoded.png">
            <a:extLst>
              <a:ext uri="{FF2B5EF4-FFF2-40B4-BE49-F238E27FC236}">
                <a16:creationId xmlns:a16="http://schemas.microsoft.com/office/drawing/2014/main" id="{600194F4-B038-D03A-B69F-3B0880E551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6191250"/>
            <a:ext cx="133350" cy="133350"/>
          </a:xfrm>
          <a:prstGeom prst="rect">
            <a:avLst/>
          </a:prstGeom>
        </p:spPr>
      </p:pic>
      <p:sp>
        <p:nvSpPr>
          <p:cNvPr id="86" name="Text 39">
            <a:extLst>
              <a:ext uri="{FF2B5EF4-FFF2-40B4-BE49-F238E27FC236}">
                <a16:creationId xmlns:a16="http://schemas.microsoft.com/office/drawing/2014/main" id="{007E4085-F426-4AB6-2101-2AB35CBB1002}"/>
              </a:ext>
            </a:extLst>
          </p:cNvPr>
          <p:cNvSpPr/>
          <p:nvPr/>
        </p:nvSpPr>
        <p:spPr>
          <a:xfrm>
            <a:off x="590550" y="6153150"/>
            <a:ext cx="3451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</a:t>
            </a: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8:</a:t>
            </a: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pt-PT" sz="1050" dirty="0">
                <a:solidFill>
                  <a:schemeClr val="bg1"/>
                </a:solidFill>
              </a:rPr>
              <a:t>Definição da prioridade (importância visual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7" name="Image 10" descr="preencoded.png">
            <a:extLst>
              <a:ext uri="{FF2B5EF4-FFF2-40B4-BE49-F238E27FC236}">
                <a16:creationId xmlns:a16="http://schemas.microsoft.com/office/drawing/2014/main" id="{26CF9659-15BC-A6C1-4BED-D7BBE62310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6438900"/>
            <a:ext cx="133350" cy="133350"/>
          </a:xfrm>
          <a:prstGeom prst="rect">
            <a:avLst/>
          </a:prstGeom>
        </p:spPr>
      </p:pic>
      <p:sp>
        <p:nvSpPr>
          <p:cNvPr id="88" name="Text 39">
            <a:extLst>
              <a:ext uri="{FF2B5EF4-FFF2-40B4-BE49-F238E27FC236}">
                <a16:creationId xmlns:a16="http://schemas.microsoft.com/office/drawing/2014/main" id="{1BE99AEA-9215-07E4-5D9D-61C93C61E783}"/>
              </a:ext>
            </a:extLst>
          </p:cNvPr>
          <p:cNvSpPr/>
          <p:nvPr/>
        </p:nvSpPr>
        <p:spPr>
          <a:xfrm>
            <a:off x="590550" y="6400800"/>
            <a:ext cx="3451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</a:t>
            </a: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9: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pt-PT" sz="1050" dirty="0">
                <a:solidFill>
                  <a:schemeClr val="bg1"/>
                </a:solidFill>
              </a:rPr>
              <a:t>Envio da notificação para o sistema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9" name="Image 10" descr="preencoded.png">
            <a:extLst>
              <a:ext uri="{FF2B5EF4-FFF2-40B4-BE49-F238E27FC236}">
                <a16:creationId xmlns:a16="http://schemas.microsoft.com/office/drawing/2014/main" id="{8A4201E7-0E75-52DA-86A2-723A96AADD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6667500"/>
            <a:ext cx="133350" cy="133350"/>
          </a:xfrm>
          <a:prstGeom prst="rect">
            <a:avLst/>
          </a:prstGeom>
        </p:spPr>
      </p:pic>
      <p:sp>
        <p:nvSpPr>
          <p:cNvPr id="90" name="Text 39">
            <a:extLst>
              <a:ext uri="{FF2B5EF4-FFF2-40B4-BE49-F238E27FC236}">
                <a16:creationId xmlns:a16="http://schemas.microsoft.com/office/drawing/2014/main" id="{3BB0B713-7F94-0ECE-D5A3-1FE670A54A5A}"/>
              </a:ext>
            </a:extLst>
          </p:cNvPr>
          <p:cNvSpPr/>
          <p:nvPr/>
        </p:nvSpPr>
        <p:spPr>
          <a:xfrm>
            <a:off x="590550" y="6629400"/>
            <a:ext cx="3451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</a:t>
            </a:r>
            <a:r>
              <a:rPr lang="en-US" sz="10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10: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pt-PT" sz="1050" dirty="0">
                <a:solidFill>
                  <a:schemeClr val="bg1"/>
                </a:solidFill>
              </a:rPr>
              <a:t>Encerramento do serviço temporário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209550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2573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3716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9838" y="154305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4625" y="1104900"/>
            <a:ext cx="2095500" cy="1143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7025" y="1257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13716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3463" y="15430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8250" y="1200150"/>
            <a:ext cx="20955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00650" y="1352550"/>
            <a:ext cx="17145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0175" y="14668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7088" y="15430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1875" y="1104900"/>
            <a:ext cx="2095500" cy="1143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34275" y="12573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7625" y="137160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0713" y="154305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5500" y="1200150"/>
            <a:ext cx="2095500" cy="952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67900" y="1352550"/>
            <a:ext cx="13335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67900" y="14668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2628900"/>
            <a:ext cx="5562600" cy="23812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32004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35052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38100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41148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44196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2628900"/>
            <a:ext cx="5562600" cy="23812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2004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5052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8100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1148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4196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5238750"/>
            <a:ext cx="11430000" cy="762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" y="5467350"/>
            <a:ext cx="202704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7602" y="5543550"/>
            <a:ext cx="114300" cy="1524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Fluxo Completo das Notificações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1028700" y="1333500"/>
            <a:ext cx="7886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Utilizador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533400" y="1714500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Abre a app e agenda uma visita</a:t>
            </a:r>
            <a:endParaRPr lang="en-US" sz="1050" dirty="0"/>
          </a:p>
        </p:txBody>
      </p:sp>
      <p:sp>
        <p:nvSpPr>
          <p:cNvPr id="42" name="Text 3"/>
          <p:cNvSpPr/>
          <p:nvPr/>
        </p:nvSpPr>
        <p:spPr>
          <a:xfrm>
            <a:off x="3362325" y="1333500"/>
            <a:ext cx="10172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2867025" y="1714500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 os dados e carrega em "agendar"</a:t>
            </a:r>
            <a:endParaRPr lang="en-US" sz="1050" dirty="0"/>
          </a:p>
        </p:txBody>
      </p:sp>
      <p:sp>
        <p:nvSpPr>
          <p:cNvPr id="44" name="Text 5"/>
          <p:cNvSpPr/>
          <p:nvPr/>
        </p:nvSpPr>
        <p:spPr>
          <a:xfrm>
            <a:off x="5486400" y="142875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VisitSchedulerService</a:t>
            </a:r>
            <a:endParaRPr lang="en-US" sz="1200" dirty="0"/>
          </a:p>
        </p:txBody>
      </p:sp>
      <p:sp>
        <p:nvSpPr>
          <p:cNvPr id="45" name="Text 6"/>
          <p:cNvSpPr/>
          <p:nvPr/>
        </p:nvSpPr>
        <p:spPr>
          <a:xfrm>
            <a:off x="5200650" y="1809750"/>
            <a:ext cx="2148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 o lembrete no Android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8029575" y="1333500"/>
            <a:ext cx="651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</a:t>
            </a:r>
            <a:endParaRPr lang="en-US" sz="1200" dirty="0"/>
          </a:p>
        </p:txBody>
      </p:sp>
      <p:sp>
        <p:nvSpPr>
          <p:cNvPr id="47" name="Text 8"/>
          <p:cNvSpPr/>
          <p:nvPr/>
        </p:nvSpPr>
        <p:spPr>
          <a:xfrm>
            <a:off x="7534275" y="1714500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 o alarme e prepara notificação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10115550" y="1428750"/>
            <a:ext cx="1874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VisitReminderReceiver</a:t>
            </a:r>
            <a:endParaRPr lang="en-US" sz="1200" dirty="0"/>
          </a:p>
        </p:txBody>
      </p:sp>
      <p:sp>
        <p:nvSpPr>
          <p:cNvPr id="49" name="Text 10"/>
          <p:cNvSpPr/>
          <p:nvPr/>
        </p:nvSpPr>
        <p:spPr>
          <a:xfrm>
            <a:off x="9867900" y="1809750"/>
            <a:ext cx="2148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Constrói a notificação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533400" y="27813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Detalhes do Processo</a:t>
            </a:r>
            <a:endParaRPr lang="en-US" sz="1500" dirty="0"/>
          </a:p>
        </p:txBody>
      </p:sp>
      <p:sp>
        <p:nvSpPr>
          <p:cNvPr id="51" name="Text 12"/>
          <p:cNvSpPr/>
          <p:nvPr/>
        </p:nvSpPr>
        <p:spPr>
          <a:xfrm>
            <a:off x="762000" y="3162300"/>
            <a:ext cx="4160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 não fica a contar tempo nem a esperar</a:t>
            </a:r>
            <a:endParaRPr lang="en-US" sz="1200" dirty="0"/>
          </a:p>
        </p:txBody>
      </p:sp>
      <p:sp>
        <p:nvSpPr>
          <p:cNvPr id="52" name="Text 13"/>
          <p:cNvSpPr/>
          <p:nvPr/>
        </p:nvSpPr>
        <p:spPr>
          <a:xfrm>
            <a:off x="762000" y="3467100"/>
            <a:ext cx="4229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usa AlarmManager para agendar no sistema</a:t>
            </a:r>
            <a:endParaRPr lang="en-US" sz="1200" dirty="0"/>
          </a:p>
        </p:txBody>
      </p:sp>
      <p:sp>
        <p:nvSpPr>
          <p:cNvPr id="53" name="Text 14"/>
          <p:cNvSpPr/>
          <p:nvPr/>
        </p:nvSpPr>
        <p:spPr>
          <a:xfrm>
            <a:off x="762000" y="3771900"/>
            <a:ext cx="4549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PendingIntent garante autorização para execução futura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762000" y="4076700"/>
            <a:ext cx="37147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chama Receiver quando chega a hora</a:t>
            </a:r>
            <a:endParaRPr lang="en-US" sz="1200" dirty="0"/>
          </a:p>
        </p:txBody>
      </p:sp>
      <p:sp>
        <p:nvSpPr>
          <p:cNvPr id="55" name="Text 16"/>
          <p:cNvSpPr/>
          <p:nvPr/>
        </p:nvSpPr>
        <p:spPr>
          <a:xfrm>
            <a:off x="762000" y="4381500"/>
            <a:ext cx="3897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constrói notificação com canal "visitas"</a:t>
            </a:r>
            <a:endParaRPr lang="en-US" sz="1200" dirty="0"/>
          </a:p>
        </p:txBody>
      </p:sp>
      <p:sp>
        <p:nvSpPr>
          <p:cNvPr id="56" name="Text 17"/>
          <p:cNvSpPr/>
          <p:nvPr/>
        </p:nvSpPr>
        <p:spPr>
          <a:xfrm>
            <a:off x="6400800" y="27813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Interação com o Android</a:t>
            </a:r>
            <a:endParaRPr lang="en-US" sz="1500" dirty="0"/>
          </a:p>
        </p:txBody>
      </p:sp>
      <p:sp>
        <p:nvSpPr>
          <p:cNvPr id="57" name="Text 18"/>
          <p:cNvSpPr/>
          <p:nvPr/>
        </p:nvSpPr>
        <p:spPr>
          <a:xfrm>
            <a:off x="6629400" y="3162300"/>
            <a:ext cx="3920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regista alarme através do AlarmManager</a:t>
            </a:r>
            <a:endParaRPr lang="en-US" sz="1200" dirty="0"/>
          </a:p>
        </p:txBody>
      </p:sp>
      <p:sp>
        <p:nvSpPr>
          <p:cNvPr id="58" name="Text 19"/>
          <p:cNvSpPr/>
          <p:nvPr/>
        </p:nvSpPr>
        <p:spPr>
          <a:xfrm>
            <a:off x="6629400" y="3467100"/>
            <a:ext cx="4537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Utilização de setExactAndAllowWhileIdle() para precisão</a:t>
            </a:r>
            <a:endParaRPr lang="en-US" sz="1200" dirty="0"/>
          </a:p>
        </p:txBody>
      </p:sp>
      <p:sp>
        <p:nvSpPr>
          <p:cNvPr id="59" name="Text 20"/>
          <p:cNvSpPr/>
          <p:nvPr/>
        </p:nvSpPr>
        <p:spPr>
          <a:xfrm>
            <a:off x="6629400" y="3771900"/>
            <a:ext cx="4160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Canal de notificação criado na MyApp (Application)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6629400" y="4076700"/>
            <a:ext cx="3326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apenas reage no momento certo</a:t>
            </a:r>
            <a:endParaRPr lang="en-US" sz="1200" dirty="0"/>
          </a:p>
        </p:txBody>
      </p:sp>
      <p:sp>
        <p:nvSpPr>
          <p:cNvPr id="61" name="Text 22"/>
          <p:cNvSpPr/>
          <p:nvPr/>
        </p:nvSpPr>
        <p:spPr>
          <a:xfrm>
            <a:off x="6629400" y="43815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 mostrada com importância alta</a:t>
            </a:r>
            <a:endParaRPr lang="en-US" sz="1200" dirty="0"/>
          </a:p>
        </p:txBody>
      </p:sp>
      <p:sp>
        <p:nvSpPr>
          <p:cNvPr id="62" name="Text 23"/>
          <p:cNvSpPr/>
          <p:nvPr/>
        </p:nvSpPr>
        <p:spPr>
          <a:xfrm>
            <a:off x="850404" y="5391150"/>
            <a:ext cx="1080819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Conclusão: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fluxo completo mostra como a app Android separa UI de backend, confiando ao sistema operativo a parte crítica do agendamento e notificação. Esta separação permite que as notificações funcionem mesmo com a app fechada.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11325225" y="66802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12/15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62100"/>
            <a:ext cx="3657600" cy="2133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145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8288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7813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2838450"/>
            <a:ext cx="13335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1562100"/>
            <a:ext cx="3657600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7145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4375" y="18288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27813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9613" y="2838450"/>
            <a:ext cx="104775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1562100"/>
            <a:ext cx="3657600" cy="2133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17145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01050" y="18288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27813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848100"/>
            <a:ext cx="3657600" cy="2133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005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1148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50673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" y="5124450"/>
            <a:ext cx="13335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3848100"/>
            <a:ext cx="3657600" cy="2133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400050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4375" y="411480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19600" y="506730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5325" y="5124450"/>
            <a:ext cx="13335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3848100"/>
            <a:ext cx="3657600" cy="2133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40005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01050" y="4114800"/>
            <a:ext cx="1905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5800" y="506730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91525" y="5124450"/>
            <a:ext cx="133350" cy="1905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7185" y="6038850"/>
            <a:ext cx="11430000" cy="7620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Cenários de Falha Prevenidos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381000" y="10287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componente da arquitetura foi projetado para prevenir cenários de falha específicos. A seguir, analisamos os principais cenários e como cada componente contribui para a robustez da solução.</a:t>
            </a:r>
            <a:endParaRPr lang="en-US" sz="1200" dirty="0"/>
          </a:p>
        </p:txBody>
      </p:sp>
      <p:sp>
        <p:nvSpPr>
          <p:cNvPr id="37" name="Text 2"/>
          <p:cNvSpPr/>
          <p:nvPr/>
        </p:nvSpPr>
        <p:spPr>
          <a:xfrm>
            <a:off x="1028700" y="1771650"/>
            <a:ext cx="1805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Destruída</a:t>
            </a:r>
            <a:endParaRPr lang="en-US" sz="1500" dirty="0"/>
          </a:p>
        </p:txBody>
      </p:sp>
      <p:sp>
        <p:nvSpPr>
          <p:cNvPr id="38" name="Text 3"/>
          <p:cNvSpPr/>
          <p:nvPr/>
        </p:nvSpPr>
        <p:spPr>
          <a:xfrm>
            <a:off x="533400" y="2209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 Activity for destruída (ao sair, rodar o ecrã, memória insuficiente), a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desaparece.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914400" y="2819400"/>
            <a:ext cx="617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533400" y="3162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agendamento ao Service que vive o tempo suficiente para fazer o agendamento.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4914900" y="1771650"/>
            <a:ext cx="2274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Atraso por Doze Mode</a:t>
            </a:r>
            <a:endParaRPr lang="en-US" sz="1500" dirty="0"/>
          </a:p>
        </p:txBody>
      </p:sp>
      <p:sp>
        <p:nvSpPr>
          <p:cNvPr id="42" name="Text 7"/>
          <p:cNvSpPr/>
          <p:nvPr/>
        </p:nvSpPr>
        <p:spPr>
          <a:xfrm>
            <a:off x="4419600" y="2209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dispositivos com Doze agressivo, alarmes podem ser atrasados para janelas flexíveis.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4800600" y="2819400"/>
            <a:ext cx="514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Daniel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4419600" y="3162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Usou setExactAndAllowWhileIdle() para garantir precisão mesmo em modo de poupança.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8801100" y="1771650"/>
            <a:ext cx="2308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 Bloqueada</a:t>
            </a:r>
            <a:endParaRPr lang="en-US" sz="1500" dirty="0"/>
          </a:p>
        </p:txBody>
      </p:sp>
      <p:sp>
        <p:nvSpPr>
          <p:cNvPr id="46" name="Text 11"/>
          <p:cNvSpPr/>
          <p:nvPr/>
        </p:nvSpPr>
        <p:spPr>
          <a:xfrm>
            <a:off x="8305800" y="2209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o canal de notificações não existir ou estiver desativado, a notificação pode não aparecer.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8686800" y="2819400"/>
            <a:ext cx="480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Maria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8305800" y="3162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Criou o canal 'visitas' na MyApp para garantir que existe antes da notificação.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1028700" y="4057650"/>
            <a:ext cx="25488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Segurança</a:t>
            </a:r>
            <a:endParaRPr lang="en-US" sz="1500" dirty="0"/>
          </a:p>
        </p:txBody>
      </p:sp>
      <p:sp>
        <p:nvSpPr>
          <p:cNvPr id="50" name="Text 15"/>
          <p:cNvSpPr/>
          <p:nvPr/>
        </p:nvSpPr>
        <p:spPr>
          <a:xfrm>
            <a:off x="533400" y="4495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Android bloqueia intents normais que vieram do nada sem autorização.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914400" y="5105400"/>
            <a:ext cx="45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Fábio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533400" y="5448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Garantiu que o receiver seja chamado com PendingIntent autorizada.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4914900" y="405765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Reinício do Telefone</a:t>
            </a:r>
            <a:endParaRPr lang="en-US" sz="1500" dirty="0"/>
          </a:p>
        </p:txBody>
      </p:sp>
      <p:sp>
        <p:nvSpPr>
          <p:cNvPr id="54" name="Text 19"/>
          <p:cNvSpPr/>
          <p:nvPr/>
        </p:nvSpPr>
        <p:spPr>
          <a:xfrm>
            <a:off x="4419600" y="4495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Após reinício, alarmes do AlarmManager são perdidos e precisam ser reagendados.</a:t>
            </a: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4800600" y="5105400"/>
            <a:ext cx="1611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BOOT_COMPLETED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4419600" y="5448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para BOOT_COMPLETED lê todos os lembretes e reagenda no serviço.</a:t>
            </a:r>
            <a:endParaRPr lang="en-US" sz="1050" dirty="0"/>
          </a:p>
        </p:txBody>
      </p:sp>
      <p:sp>
        <p:nvSpPr>
          <p:cNvPr id="57" name="Text 22"/>
          <p:cNvSpPr/>
          <p:nvPr/>
        </p:nvSpPr>
        <p:spPr>
          <a:xfrm>
            <a:off x="8801100" y="405765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Ineficiente</a:t>
            </a:r>
            <a:endParaRPr lang="en-US" sz="1500" dirty="0"/>
          </a:p>
        </p:txBody>
      </p:sp>
      <p:sp>
        <p:nvSpPr>
          <p:cNvPr id="58" name="Text 23"/>
          <p:cNvSpPr/>
          <p:nvPr/>
        </p:nvSpPr>
        <p:spPr>
          <a:xfrm>
            <a:off x="8305800" y="4495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Trabalho demorado no receiver pode fazer o Android matar o processo.</a:t>
            </a:r>
            <a:endParaRPr lang="en-US" sz="1200" dirty="0"/>
          </a:p>
        </p:txBody>
      </p:sp>
      <p:sp>
        <p:nvSpPr>
          <p:cNvPr id="59" name="Text 24"/>
          <p:cNvSpPr/>
          <p:nvPr/>
        </p:nvSpPr>
        <p:spPr>
          <a:xfrm>
            <a:off x="8686800" y="51054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Benedita</a:t>
            </a:r>
            <a:endParaRPr lang="en-US" sz="1200" dirty="0"/>
          </a:p>
        </p:txBody>
      </p:sp>
      <p:sp>
        <p:nvSpPr>
          <p:cNvPr id="60" name="Text 25"/>
          <p:cNvSpPr/>
          <p:nvPr/>
        </p:nvSpPr>
        <p:spPr>
          <a:xfrm>
            <a:off x="8305800" y="54483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pequeno que apenas constroi e mostra a notificação rapidamente.</a:t>
            </a:r>
            <a:endParaRPr lang="en-US" sz="1050" dirty="0"/>
          </a:p>
        </p:txBody>
      </p:sp>
      <p:sp>
        <p:nvSpPr>
          <p:cNvPr id="61" name="Text 26"/>
          <p:cNvSpPr/>
          <p:nvPr/>
        </p:nvSpPr>
        <p:spPr>
          <a:xfrm>
            <a:off x="533400" y="624840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27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Conclusão: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Cada componente da arquitetura foi escolhido para resolver um problema específico. Juntos, eles formam uma solução robusta que protege contra os principais cenários de falha do sistema Android.</a:t>
            </a:r>
            <a:endParaRPr lang="en-US" sz="1200" dirty="0"/>
          </a:p>
        </p:txBody>
      </p:sp>
      <p:sp>
        <p:nvSpPr>
          <p:cNvPr id="62" name="Text 27"/>
          <p:cNvSpPr/>
          <p:nvPr/>
        </p:nvSpPr>
        <p:spPr>
          <a:xfrm>
            <a:off x="11325225" y="66675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13/15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3657600" cy="5753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3350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52600"/>
            <a:ext cx="32766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905000"/>
            <a:ext cx="7620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2000250"/>
            <a:ext cx="1524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" y="2057400"/>
            <a:ext cx="1524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1905000"/>
            <a:ext cx="7620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3125" y="2000250"/>
            <a:ext cx="13335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6050" y="2057400"/>
            <a:ext cx="1524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3700" y="1905000"/>
            <a:ext cx="7620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7550" y="2000250"/>
            <a:ext cx="1143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3909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65760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92430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229100"/>
            <a:ext cx="327660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1143000"/>
            <a:ext cx="20002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1562100"/>
            <a:ext cx="3657600" cy="1790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95800" y="17145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19625" y="18288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5800" y="2247900"/>
            <a:ext cx="66675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5800" y="2514600"/>
            <a:ext cx="66675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95800" y="2743200"/>
            <a:ext cx="33528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1562100"/>
            <a:ext cx="3657600" cy="1790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5800" y="17145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9625" y="18288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5800" y="2247900"/>
            <a:ext cx="66675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5800" y="2514600"/>
            <a:ext cx="66675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2743200"/>
            <a:ext cx="3352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43400" y="3505200"/>
            <a:ext cx="3657600" cy="1905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95800" y="3657600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00575" y="3771900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95800" y="4191000"/>
            <a:ext cx="66675" cy="1333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95800" y="4457700"/>
            <a:ext cx="66675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95800" y="4876800"/>
            <a:ext cx="3352800" cy="4572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53400" y="3505200"/>
            <a:ext cx="3657600" cy="1905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3657600"/>
            <a:ext cx="381000" cy="3810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20100" y="377190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4191000"/>
            <a:ext cx="66675" cy="1333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4457700"/>
            <a:ext cx="66675" cy="1333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4686300"/>
            <a:ext cx="3352800" cy="3048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43400" y="5486400"/>
            <a:ext cx="7467600" cy="12192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5800" y="5686425"/>
            <a:ext cx="133350" cy="17145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Escalabilidade e Evoluções Futuras</a:t>
            </a:r>
            <a:endParaRPr lang="en-US" sz="2700" dirty="0"/>
          </a:p>
        </p:txBody>
      </p:sp>
      <p:sp>
        <p:nvSpPr>
          <p:cNvPr id="48" name="Text 1"/>
          <p:cNvSpPr/>
          <p:nvPr/>
        </p:nvSpPr>
        <p:spPr>
          <a:xfrm>
            <a:off x="933450" y="1295400"/>
            <a:ext cx="3931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Atual</a:t>
            </a:r>
            <a:endParaRPr lang="en-US" sz="1800" dirty="0"/>
          </a:p>
        </p:txBody>
      </p:sp>
      <p:sp>
        <p:nvSpPr>
          <p:cNvPr id="49" name="Text 2"/>
          <p:cNvSpPr/>
          <p:nvPr/>
        </p:nvSpPr>
        <p:spPr>
          <a:xfrm>
            <a:off x="739140" y="2247900"/>
            <a:ext cx="731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900" dirty="0"/>
          </a:p>
        </p:txBody>
      </p:sp>
      <p:sp>
        <p:nvSpPr>
          <p:cNvPr id="50" name="Text 3"/>
          <p:cNvSpPr/>
          <p:nvPr/>
        </p:nvSpPr>
        <p:spPr>
          <a:xfrm>
            <a:off x="1844040" y="2247900"/>
            <a:ext cx="731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</a:t>
            </a:r>
            <a:endParaRPr lang="en-US" sz="900" dirty="0"/>
          </a:p>
        </p:txBody>
      </p:sp>
      <p:sp>
        <p:nvSpPr>
          <p:cNvPr id="51" name="Text 4"/>
          <p:cNvSpPr/>
          <p:nvPr/>
        </p:nvSpPr>
        <p:spPr>
          <a:xfrm>
            <a:off x="2948940" y="2247900"/>
            <a:ext cx="731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</a:t>
            </a:r>
            <a:endParaRPr lang="en-US" sz="900" dirty="0"/>
          </a:p>
        </p:txBody>
      </p:sp>
      <p:sp>
        <p:nvSpPr>
          <p:cNvPr id="52" name="Text 5"/>
          <p:cNvSpPr/>
          <p:nvPr/>
        </p:nvSpPr>
        <p:spPr>
          <a:xfrm>
            <a:off x="571500" y="3009900"/>
            <a:ext cx="3931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Principais Forças</a:t>
            </a:r>
            <a:endParaRPr lang="en-US" sz="1350" dirty="0"/>
          </a:p>
        </p:txBody>
      </p:sp>
      <p:sp>
        <p:nvSpPr>
          <p:cNvPr id="53" name="Text 6"/>
          <p:cNvSpPr/>
          <p:nvPr/>
        </p:nvSpPr>
        <p:spPr>
          <a:xfrm>
            <a:off x="781050" y="3352800"/>
            <a:ext cx="3051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Componentes com ciclos de vida diferentes</a:t>
            </a:r>
            <a:endParaRPr lang="en-US" sz="1050" dirty="0"/>
          </a:p>
        </p:txBody>
      </p:sp>
      <p:sp>
        <p:nvSpPr>
          <p:cNvPr id="54" name="Text 7"/>
          <p:cNvSpPr/>
          <p:nvPr/>
        </p:nvSpPr>
        <p:spPr>
          <a:xfrm>
            <a:off x="781050" y="36195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Princípio da responsabilidade única</a:t>
            </a:r>
            <a:endParaRPr lang="en-US" sz="1050" dirty="0"/>
          </a:p>
        </p:txBody>
      </p:sp>
      <p:sp>
        <p:nvSpPr>
          <p:cNvPr id="55" name="Text 8"/>
          <p:cNvSpPr/>
          <p:nvPr/>
        </p:nvSpPr>
        <p:spPr>
          <a:xfrm>
            <a:off x="781050" y="3886200"/>
            <a:ext cx="2526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separado por preocupações</a:t>
            </a:r>
            <a:endParaRPr lang="en-US" sz="1050" dirty="0"/>
          </a:p>
        </p:txBody>
      </p:sp>
      <p:sp>
        <p:nvSpPr>
          <p:cNvPr id="56" name="Text 9"/>
          <p:cNvSpPr/>
          <p:nvPr/>
        </p:nvSpPr>
        <p:spPr>
          <a:xfrm>
            <a:off x="685800" y="4343400"/>
            <a:ext cx="3048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nossa arquitetura está preparada para crescer. Se daqui a uns tempos quisermos </a:t>
            </a:r>
            <a:r>
              <a:rPr lang="en-US" sz="1050" i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</a:t>
            </a: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</a:t>
            </a:r>
            <a:r>
              <a:rPr lang="en-US" sz="1050" i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</a:t>
            </a: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sobrevivam a um </a:t>
            </a:r>
            <a:r>
              <a:rPr lang="en-US" sz="1050" i="1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reiniciar</a:t>
            </a:r>
            <a:r>
              <a:rPr lang="en-US" sz="1050" i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telemóvel, basta ouvirmos o broadcast de BOOT_COMPLETED."</a:t>
            </a:r>
            <a:endParaRPr lang="en-US" sz="1050" dirty="0"/>
          </a:p>
        </p:txBody>
      </p:sp>
      <p:sp>
        <p:nvSpPr>
          <p:cNvPr id="57" name="Text 10"/>
          <p:cNvSpPr/>
          <p:nvPr/>
        </p:nvSpPr>
        <p:spPr>
          <a:xfrm>
            <a:off x="4619625" y="1104900"/>
            <a:ext cx="746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Possibilidades de Evolução</a:t>
            </a:r>
            <a:endParaRPr lang="en-US" sz="1800" dirty="0"/>
          </a:p>
        </p:txBody>
      </p:sp>
      <p:sp>
        <p:nvSpPr>
          <p:cNvPr id="58" name="Text 11"/>
          <p:cNvSpPr/>
          <p:nvPr/>
        </p:nvSpPr>
        <p:spPr>
          <a:xfrm>
            <a:off x="4991100" y="1771650"/>
            <a:ext cx="2045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Persistência de Dados</a:t>
            </a:r>
            <a:endParaRPr lang="en-US" sz="1350" dirty="0"/>
          </a:p>
        </p:txBody>
      </p:sp>
      <p:sp>
        <p:nvSpPr>
          <p:cNvPr id="59" name="Text 12"/>
          <p:cNvSpPr/>
          <p:nvPr/>
        </p:nvSpPr>
        <p:spPr>
          <a:xfrm>
            <a:off x="4638675" y="22098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Guardar agendamentos numa base de dados</a:t>
            </a:r>
            <a:endParaRPr lang="en-US" sz="1050" dirty="0"/>
          </a:p>
        </p:txBody>
      </p:sp>
      <p:sp>
        <p:nvSpPr>
          <p:cNvPr id="60" name="Text 13"/>
          <p:cNvSpPr/>
          <p:nvPr/>
        </p:nvSpPr>
        <p:spPr>
          <a:xfrm>
            <a:off x="4638675" y="2476500"/>
            <a:ext cx="34404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Permitir ao utilizador ver a lista de visitas futuras</a:t>
            </a:r>
            <a:endParaRPr lang="en-US" sz="1050" dirty="0"/>
          </a:p>
        </p:txBody>
      </p:sp>
      <p:sp>
        <p:nvSpPr>
          <p:cNvPr id="61" name="Text 14"/>
          <p:cNvSpPr/>
          <p:nvPr/>
        </p:nvSpPr>
        <p:spPr>
          <a:xfrm>
            <a:off x="4572000" y="27432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pode ser o local certo para fazer isto sem mexer na Activity</a:t>
            </a:r>
            <a:endParaRPr lang="en-US" sz="900" dirty="0"/>
          </a:p>
        </p:txBody>
      </p:sp>
      <p:sp>
        <p:nvSpPr>
          <p:cNvPr id="62" name="Text 15"/>
          <p:cNvSpPr/>
          <p:nvPr/>
        </p:nvSpPr>
        <p:spPr>
          <a:xfrm>
            <a:off x="8801100" y="1771650"/>
            <a:ext cx="2080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Múltiplas Notificações</a:t>
            </a:r>
            <a:endParaRPr lang="en-US" sz="1350" dirty="0"/>
          </a:p>
        </p:txBody>
      </p:sp>
      <p:sp>
        <p:nvSpPr>
          <p:cNvPr id="63" name="Text 16"/>
          <p:cNvSpPr/>
          <p:nvPr/>
        </p:nvSpPr>
        <p:spPr>
          <a:xfrm>
            <a:off x="8448675" y="22098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Permitir várias notificações ao mesmo tempo</a:t>
            </a:r>
            <a:endParaRPr lang="en-US" sz="1050" dirty="0"/>
          </a:p>
        </p:txBody>
      </p:sp>
      <p:sp>
        <p:nvSpPr>
          <p:cNvPr id="64" name="Text 17"/>
          <p:cNvSpPr/>
          <p:nvPr/>
        </p:nvSpPr>
        <p:spPr>
          <a:xfrm>
            <a:off x="8448675" y="24765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 IDs de notificação distintos (ID da visita)</a:t>
            </a:r>
            <a:endParaRPr lang="en-US" sz="1050" dirty="0"/>
          </a:p>
        </p:txBody>
      </p:sp>
      <p:sp>
        <p:nvSpPr>
          <p:cNvPr id="65" name="Text 18"/>
          <p:cNvSpPr/>
          <p:nvPr/>
        </p:nvSpPr>
        <p:spPr>
          <a:xfrm>
            <a:off x="8382000" y="2743200"/>
            <a:ext cx="4023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já suporta múltiplas notificações com IDs distintos</a:t>
            </a:r>
            <a:endParaRPr lang="en-US" sz="900" dirty="0"/>
          </a:p>
        </p:txBody>
      </p:sp>
      <p:sp>
        <p:nvSpPr>
          <p:cNvPr id="66" name="Text 19"/>
          <p:cNvSpPr/>
          <p:nvPr/>
        </p:nvSpPr>
        <p:spPr>
          <a:xfrm>
            <a:off x="4991100" y="3714750"/>
            <a:ext cx="2034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Ações Personalizadas</a:t>
            </a:r>
            <a:endParaRPr lang="en-US" sz="1350" dirty="0"/>
          </a:p>
        </p:txBody>
      </p:sp>
      <p:sp>
        <p:nvSpPr>
          <p:cNvPr id="67" name="Text 20"/>
          <p:cNvSpPr/>
          <p:nvPr/>
        </p:nvSpPr>
        <p:spPr>
          <a:xfrm>
            <a:off x="4638675" y="4152900"/>
            <a:ext cx="3646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Adicionar botões às notificações (ex: "Adiar 10 min")</a:t>
            </a:r>
            <a:endParaRPr lang="en-US" sz="1050" dirty="0"/>
          </a:p>
        </p:txBody>
      </p:sp>
      <p:sp>
        <p:nvSpPr>
          <p:cNvPr id="68" name="Text 21"/>
          <p:cNvSpPr/>
          <p:nvPr/>
        </p:nvSpPr>
        <p:spPr>
          <a:xfrm>
            <a:off x="4638675" y="4419600"/>
            <a:ext cx="32099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Permitir que o utilizador tome ações diretamente da notificação</a:t>
            </a:r>
            <a:endParaRPr lang="en-US" sz="1050" dirty="0"/>
          </a:p>
        </p:txBody>
      </p:sp>
      <p:sp>
        <p:nvSpPr>
          <p:cNvPr id="69" name="Text 22"/>
          <p:cNvSpPr/>
          <p:nvPr/>
        </p:nvSpPr>
        <p:spPr>
          <a:xfrm>
            <a:off x="4572000" y="48768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 pode ser reutilizado para lidar com ações personalizadas</a:t>
            </a:r>
            <a:endParaRPr lang="en-US" sz="900" dirty="0"/>
          </a:p>
        </p:txBody>
      </p:sp>
      <p:sp>
        <p:nvSpPr>
          <p:cNvPr id="70" name="Text 23"/>
          <p:cNvSpPr/>
          <p:nvPr/>
        </p:nvSpPr>
        <p:spPr>
          <a:xfrm>
            <a:off x="8801100" y="3714750"/>
            <a:ext cx="1668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Suporte a Reinício</a:t>
            </a:r>
            <a:endParaRPr lang="en-US" sz="1350" dirty="0"/>
          </a:p>
        </p:txBody>
      </p:sp>
      <p:sp>
        <p:nvSpPr>
          <p:cNvPr id="71" name="Text 24"/>
          <p:cNvSpPr/>
          <p:nvPr/>
        </p:nvSpPr>
        <p:spPr>
          <a:xfrm>
            <a:off x="8448675" y="41529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Receber broadcast de BOOT_COMPLETED</a:t>
            </a:r>
            <a:endParaRPr lang="en-US" sz="1050" dirty="0"/>
          </a:p>
        </p:txBody>
      </p:sp>
      <p:sp>
        <p:nvSpPr>
          <p:cNvPr id="72" name="Text 25"/>
          <p:cNvSpPr/>
          <p:nvPr/>
        </p:nvSpPr>
        <p:spPr>
          <a:xfrm>
            <a:off x="8448675" y="4419600"/>
            <a:ext cx="3086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Reagendar todos os lembretes após reinício</a:t>
            </a:r>
            <a:endParaRPr lang="en-US" sz="1050" dirty="0"/>
          </a:p>
        </p:txBody>
      </p:sp>
      <p:sp>
        <p:nvSpPr>
          <p:cNvPr id="73" name="Text 26"/>
          <p:cNvSpPr/>
          <p:nvPr/>
        </p:nvSpPr>
        <p:spPr>
          <a:xfrm>
            <a:off x="8382000" y="4686300"/>
            <a:ext cx="4023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já está preparado para isto no serviço</a:t>
            </a:r>
            <a:endParaRPr lang="en-US" sz="900" dirty="0"/>
          </a:p>
        </p:txBody>
      </p:sp>
      <p:sp>
        <p:nvSpPr>
          <p:cNvPr id="74" name="Text 27"/>
          <p:cNvSpPr/>
          <p:nvPr/>
        </p:nvSpPr>
        <p:spPr>
          <a:xfrm>
            <a:off x="4705350" y="5638800"/>
            <a:ext cx="716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Visão Futura</a:t>
            </a:r>
            <a:endParaRPr lang="en-US" sz="1350" dirty="0"/>
          </a:p>
        </p:txBody>
      </p:sp>
      <p:sp>
        <p:nvSpPr>
          <p:cNvPr id="75" name="Text 28"/>
          <p:cNvSpPr/>
          <p:nvPr/>
        </p:nvSpPr>
        <p:spPr>
          <a:xfrm>
            <a:off x="4495800" y="5981700"/>
            <a:ext cx="7162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"Podemos criar 2 ou 3 canais diferentes: 'visitas normais', 'visitas urgentes', 'avisos internos'. Podemos dar ao utilizador uma opção na app para escolher o canal que quer usar. E podemos, em função da prioridade da visita, escolher o canal certo no receiver."</a:t>
            </a:r>
            <a:endParaRPr lang="en-US" sz="1050" dirty="0"/>
          </a:p>
        </p:txBody>
      </p:sp>
      <p:sp>
        <p:nvSpPr>
          <p:cNvPr id="76" name="Text 29"/>
          <p:cNvSpPr/>
          <p:nvPr/>
        </p:nvSpPr>
        <p:spPr>
          <a:xfrm>
            <a:off x="11325225" y="66929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14/15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6200"/>
            <a:ext cx="12192000" cy="6934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114300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76400"/>
            <a:ext cx="1524000" cy="647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825" y="181927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750" y="1676400"/>
            <a:ext cx="152400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9025" y="1819275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0" y="1676400"/>
            <a:ext cx="1524000" cy="647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9800" y="1819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0" y="1676400"/>
            <a:ext cx="152400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0575" y="1819275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0" y="1676400"/>
            <a:ext cx="15240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01350" y="1819275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743200"/>
            <a:ext cx="3682901" cy="1638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28956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30099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54401" y="2743200"/>
            <a:ext cx="3683050" cy="1638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06801" y="28956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1101" y="30099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7950" y="2743200"/>
            <a:ext cx="3682901" cy="163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0350" y="28956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4650" y="30099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4438650"/>
            <a:ext cx="5619750" cy="1524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4629150"/>
            <a:ext cx="219075" cy="1714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" y="50101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" y="53149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" y="561975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91250" y="4438650"/>
            <a:ext cx="5619750" cy="1524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43650" y="4629150"/>
            <a:ext cx="190500" cy="1714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43650" y="5572125"/>
            <a:ext cx="17145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24837" y="5572125"/>
            <a:ext cx="15240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325100" y="5572125"/>
            <a:ext cx="133350" cy="1333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1000" y="6029325"/>
            <a:ext cx="2667000" cy="7239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5300" y="6238875"/>
            <a:ext cx="272355" cy="3048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803" y="6315075"/>
            <a:ext cx="133350" cy="1524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Demonstração e Resultados</a:t>
            </a:r>
            <a:endParaRPr lang="en-US" sz="2700" dirty="0"/>
          </a:p>
        </p:txBody>
      </p:sp>
      <p:sp>
        <p:nvSpPr>
          <p:cNvPr id="39" name="Text 1"/>
          <p:cNvSpPr/>
          <p:nvPr/>
        </p:nvSpPr>
        <p:spPr>
          <a:xfrm>
            <a:off x="571500" y="12954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Fluxo Completo da Aplicação</a:t>
            </a:r>
            <a:endParaRPr lang="en-US" sz="1500" dirty="0"/>
          </a:p>
        </p:txBody>
      </p:sp>
      <p:sp>
        <p:nvSpPr>
          <p:cNvPr id="40" name="Text 2"/>
          <p:cNvSpPr/>
          <p:nvPr/>
        </p:nvSpPr>
        <p:spPr>
          <a:xfrm>
            <a:off x="556260" y="20193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Utilizador</a:t>
            </a:r>
            <a:endParaRPr lang="en-US" sz="1050" dirty="0"/>
          </a:p>
        </p:txBody>
      </p:sp>
      <p:sp>
        <p:nvSpPr>
          <p:cNvPr id="41" name="Text 3"/>
          <p:cNvSpPr/>
          <p:nvPr/>
        </p:nvSpPr>
        <p:spPr>
          <a:xfrm>
            <a:off x="2937510" y="20193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MainActivity</a:t>
            </a:r>
            <a:endParaRPr lang="en-US" sz="1050" dirty="0"/>
          </a:p>
        </p:txBody>
      </p:sp>
      <p:sp>
        <p:nvSpPr>
          <p:cNvPr id="42" name="Text 4"/>
          <p:cNvSpPr/>
          <p:nvPr/>
        </p:nvSpPr>
        <p:spPr>
          <a:xfrm>
            <a:off x="5448300" y="2019300"/>
            <a:ext cx="129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</a:t>
            </a:r>
            <a:endParaRPr lang="en-US" sz="1050" dirty="0"/>
          </a:p>
        </p:txBody>
      </p:sp>
      <p:sp>
        <p:nvSpPr>
          <p:cNvPr id="43" name="Text 5"/>
          <p:cNvSpPr/>
          <p:nvPr/>
        </p:nvSpPr>
        <p:spPr>
          <a:xfrm>
            <a:off x="7829550" y="2019300"/>
            <a:ext cx="129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Receiver</a:t>
            </a:r>
            <a:endParaRPr lang="en-US" sz="1050" dirty="0"/>
          </a:p>
        </p:txBody>
      </p:sp>
      <p:sp>
        <p:nvSpPr>
          <p:cNvPr id="44" name="Text 6"/>
          <p:cNvSpPr/>
          <p:nvPr/>
        </p:nvSpPr>
        <p:spPr>
          <a:xfrm>
            <a:off x="10081260" y="20193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Notificação</a:t>
            </a:r>
            <a:endParaRPr lang="en-US" sz="1050" dirty="0"/>
          </a:p>
        </p:txBody>
      </p:sp>
      <p:sp>
        <p:nvSpPr>
          <p:cNvPr id="45" name="Text 7"/>
          <p:cNvSpPr/>
          <p:nvPr/>
        </p:nvSpPr>
        <p:spPr>
          <a:xfrm>
            <a:off x="1028700" y="2952750"/>
            <a:ext cx="1725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 Rápido (10s)</a:t>
            </a:r>
            <a:endParaRPr lang="en-US" sz="1350" dirty="0"/>
          </a:p>
        </p:txBody>
      </p:sp>
      <p:sp>
        <p:nvSpPr>
          <p:cNvPr id="46" name="Text 8"/>
          <p:cNvSpPr/>
          <p:nvPr/>
        </p:nvSpPr>
        <p:spPr>
          <a:xfrm>
            <a:off x="457200" y="33528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Agendamento para 10 segundos</a:t>
            </a:r>
            <a:endParaRPr lang="en-US" sz="1050" dirty="0"/>
          </a:p>
        </p:txBody>
      </p:sp>
      <p:sp>
        <p:nvSpPr>
          <p:cNvPr id="47" name="Text 9"/>
          <p:cNvSpPr/>
          <p:nvPr/>
        </p:nvSpPr>
        <p:spPr>
          <a:xfrm>
            <a:off x="457200" y="35814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Minimizar ou fechar app</a:t>
            </a:r>
            <a:endParaRPr lang="en-US" sz="1050" dirty="0"/>
          </a:p>
        </p:txBody>
      </p:sp>
      <p:sp>
        <p:nvSpPr>
          <p:cNvPr id="48" name="Text 10"/>
          <p:cNvSpPr/>
          <p:nvPr/>
        </p:nvSpPr>
        <p:spPr>
          <a:xfrm>
            <a:off x="457200" y="3810000"/>
            <a:ext cx="34543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Aguardar resultado</a:t>
            </a:r>
            <a:endParaRPr lang="en-US" sz="1050" dirty="0"/>
          </a:p>
        </p:txBody>
      </p:sp>
      <p:sp>
        <p:nvSpPr>
          <p:cNvPr id="49" name="Text 11"/>
          <p:cNvSpPr/>
          <p:nvPr/>
        </p:nvSpPr>
        <p:spPr>
          <a:xfrm>
            <a:off x="457200" y="4038600"/>
            <a:ext cx="34543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r>
              <a:rPr lang="en-US" sz="105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Resultado: Sucesso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4902101" y="2952750"/>
            <a:ext cx="1383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Ecrã Desligado</a:t>
            </a:r>
            <a:endParaRPr lang="en-US" sz="1350" dirty="0"/>
          </a:p>
        </p:txBody>
      </p:sp>
      <p:sp>
        <p:nvSpPr>
          <p:cNvPr id="51" name="Text 13"/>
          <p:cNvSpPr/>
          <p:nvPr/>
        </p:nvSpPr>
        <p:spPr>
          <a:xfrm>
            <a:off x="4330601" y="3352800"/>
            <a:ext cx="4145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Teste com ecrã desligado</a:t>
            </a:r>
            <a:endParaRPr lang="en-US" sz="1050" dirty="0"/>
          </a:p>
        </p:txBody>
      </p:sp>
      <p:sp>
        <p:nvSpPr>
          <p:cNvPr id="52" name="Text 14"/>
          <p:cNvSpPr/>
          <p:nvPr/>
        </p:nvSpPr>
        <p:spPr>
          <a:xfrm>
            <a:off x="4330601" y="3581400"/>
            <a:ext cx="4145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Simula utilizador repousando</a:t>
            </a:r>
            <a:endParaRPr lang="en-US" sz="1050" dirty="0"/>
          </a:p>
        </p:txBody>
      </p:sp>
      <p:sp>
        <p:nvSpPr>
          <p:cNvPr id="53" name="Text 15"/>
          <p:cNvSpPr/>
          <p:nvPr/>
        </p:nvSpPr>
        <p:spPr>
          <a:xfrm>
            <a:off x="4330601" y="3810000"/>
            <a:ext cx="4145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Alarme dispara mesmo assim</a:t>
            </a:r>
            <a:endParaRPr lang="en-US" sz="1050" dirty="0"/>
          </a:p>
        </p:txBody>
      </p:sp>
      <p:sp>
        <p:nvSpPr>
          <p:cNvPr id="54" name="Text 16"/>
          <p:cNvSpPr/>
          <p:nvPr/>
        </p:nvSpPr>
        <p:spPr>
          <a:xfrm>
            <a:off x="4330601" y="4038600"/>
            <a:ext cx="3454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r>
              <a:rPr lang="en-US" sz="105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Resultado: Sucesso</a:t>
            </a:r>
            <a:endParaRPr lang="en-US" sz="1050" dirty="0"/>
          </a:p>
        </p:txBody>
      </p:sp>
      <p:sp>
        <p:nvSpPr>
          <p:cNvPr id="55" name="Text 17"/>
          <p:cNvSpPr/>
          <p:nvPr/>
        </p:nvSpPr>
        <p:spPr>
          <a:xfrm>
            <a:off x="8775650" y="29527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Fecho na Multitarefa</a:t>
            </a:r>
            <a:endParaRPr lang="en-US" sz="1350" dirty="0"/>
          </a:p>
        </p:txBody>
      </p:sp>
      <p:sp>
        <p:nvSpPr>
          <p:cNvPr id="56" name="Text 18"/>
          <p:cNvSpPr/>
          <p:nvPr/>
        </p:nvSpPr>
        <p:spPr>
          <a:xfrm>
            <a:off x="8204150" y="33528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Fechar app no multitarefa</a:t>
            </a:r>
            <a:endParaRPr lang="en-US" sz="1050" dirty="0"/>
          </a:p>
        </p:txBody>
      </p:sp>
      <p:sp>
        <p:nvSpPr>
          <p:cNvPr id="57" name="Text 19"/>
          <p:cNvSpPr/>
          <p:nvPr/>
        </p:nvSpPr>
        <p:spPr>
          <a:xfrm>
            <a:off x="8204150" y="35814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Verificar backend no sistema</a:t>
            </a:r>
            <a:endParaRPr lang="en-US" sz="1050" dirty="0"/>
          </a:p>
        </p:txBody>
      </p:sp>
      <p:sp>
        <p:nvSpPr>
          <p:cNvPr id="58" name="Text 20"/>
          <p:cNvSpPr/>
          <p:nvPr/>
        </p:nvSpPr>
        <p:spPr>
          <a:xfrm>
            <a:off x="8204150" y="38100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Alarme continua registado</a:t>
            </a:r>
            <a:endParaRPr lang="en-US" sz="1050" dirty="0"/>
          </a:p>
        </p:txBody>
      </p:sp>
      <p:sp>
        <p:nvSpPr>
          <p:cNvPr id="59" name="Text 21"/>
          <p:cNvSpPr/>
          <p:nvPr/>
        </p:nvSpPr>
        <p:spPr>
          <a:xfrm>
            <a:off x="8204150" y="4038600"/>
            <a:ext cx="34543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r>
              <a:rPr lang="en-US" sz="1050" b="1" dirty="0">
                <a:solidFill>
                  <a:srgbClr val="3DD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Resultado: Sucesso</a:t>
            </a:r>
            <a:endParaRPr lang="en-US" sz="1050" dirty="0"/>
          </a:p>
        </p:txBody>
      </p:sp>
      <p:sp>
        <p:nvSpPr>
          <p:cNvPr id="60" name="Text 22"/>
          <p:cNvSpPr/>
          <p:nvPr/>
        </p:nvSpPr>
        <p:spPr>
          <a:xfrm>
            <a:off x="828675" y="459105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Comportamento do Sistema</a:t>
            </a:r>
            <a:endParaRPr lang="en-US" sz="1350" dirty="0"/>
          </a:p>
        </p:txBody>
      </p:sp>
      <p:sp>
        <p:nvSpPr>
          <p:cNvPr id="61" name="Text 23"/>
          <p:cNvSpPr/>
          <p:nvPr/>
        </p:nvSpPr>
        <p:spPr>
          <a:xfrm>
            <a:off x="762000" y="4972050"/>
            <a:ext cx="5566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Após reinício (BOOT_COMPLETED), lembretes continuam agendados</a:t>
            </a:r>
            <a:endParaRPr lang="en-US" sz="1200" dirty="0"/>
          </a:p>
        </p:txBody>
      </p:sp>
      <p:sp>
        <p:nvSpPr>
          <p:cNvPr id="62" name="Text 24"/>
          <p:cNvSpPr/>
          <p:nvPr/>
        </p:nvSpPr>
        <p:spPr>
          <a:xfrm>
            <a:off x="762000" y="5276850"/>
            <a:ext cx="448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Múltiplas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simultaneos com IDs diferentes</a:t>
            </a:r>
            <a:endParaRPr lang="en-US" sz="1200" dirty="0"/>
          </a:p>
        </p:txBody>
      </p:sp>
      <p:sp>
        <p:nvSpPr>
          <p:cNvPr id="63" name="Text 25"/>
          <p:cNvSpPr/>
          <p:nvPr/>
        </p:nvSpPr>
        <p:spPr>
          <a:xfrm>
            <a:off x="762000" y="5581650"/>
            <a:ext cx="48348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Ações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nas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</a:t>
            </a: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funcionam corretamente</a:t>
            </a:r>
            <a:endParaRPr lang="en-US" sz="1200" dirty="0"/>
          </a:p>
        </p:txBody>
      </p:sp>
      <p:sp>
        <p:nvSpPr>
          <p:cNvPr id="64" name="Text 26"/>
          <p:cNvSpPr/>
          <p:nvPr/>
        </p:nvSpPr>
        <p:spPr>
          <a:xfrm>
            <a:off x="6610350" y="459105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Conclusão</a:t>
            </a:r>
            <a:endParaRPr lang="en-US" sz="1350" dirty="0"/>
          </a:p>
        </p:txBody>
      </p:sp>
      <p:sp>
        <p:nvSpPr>
          <p:cNvPr id="65" name="Text 27"/>
          <p:cNvSpPr/>
          <p:nvPr/>
        </p:nvSpPr>
        <p:spPr>
          <a:xfrm>
            <a:off x="6343650" y="4972050"/>
            <a:ext cx="531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implementação demonstrou ser robusta e confiável em cenários reais de utilização.</a:t>
            </a:r>
            <a:endParaRPr lang="en-US" sz="1200" dirty="0"/>
          </a:p>
        </p:txBody>
      </p:sp>
      <p:sp>
        <p:nvSpPr>
          <p:cNvPr id="66" name="Text 28"/>
          <p:cNvSpPr/>
          <p:nvPr/>
        </p:nvSpPr>
        <p:spPr>
          <a:xfrm>
            <a:off x="6591300" y="5543550"/>
            <a:ext cx="1165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correto</a:t>
            </a:r>
            <a:endParaRPr lang="en-US" sz="1050" dirty="0"/>
          </a:p>
        </p:txBody>
      </p:sp>
      <p:sp>
        <p:nvSpPr>
          <p:cNvPr id="67" name="Text 29"/>
          <p:cNvSpPr/>
          <p:nvPr/>
        </p:nvSpPr>
        <p:spPr>
          <a:xfrm>
            <a:off x="8453438" y="5543550"/>
            <a:ext cx="1451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Eficiência energética</a:t>
            </a:r>
            <a:endParaRPr lang="en-US" sz="1050" dirty="0"/>
          </a:p>
        </p:txBody>
      </p:sp>
      <p:sp>
        <p:nvSpPr>
          <p:cNvPr id="68" name="Text 30"/>
          <p:cNvSpPr/>
          <p:nvPr/>
        </p:nvSpPr>
        <p:spPr>
          <a:xfrm>
            <a:off x="10534650" y="5543550"/>
            <a:ext cx="13487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Resiliência a falhas</a:t>
            </a:r>
            <a:endParaRPr lang="en-US" sz="1050" dirty="0"/>
          </a:p>
        </p:txBody>
      </p:sp>
      <p:sp>
        <p:nvSpPr>
          <p:cNvPr id="69" name="Text 31"/>
          <p:cNvSpPr/>
          <p:nvPr/>
        </p:nvSpPr>
        <p:spPr>
          <a:xfrm>
            <a:off x="11001375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Página 15/15</a:t>
            </a:r>
            <a:endParaRPr lang="en-US" sz="1050" dirty="0"/>
          </a:p>
        </p:txBody>
      </p:sp>
      <p:sp>
        <p:nvSpPr>
          <p:cNvPr id="70" name="Text 32"/>
          <p:cNvSpPr/>
          <p:nvPr/>
        </p:nvSpPr>
        <p:spPr>
          <a:xfrm>
            <a:off x="881955" y="6143625"/>
            <a:ext cx="24620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Lembrete de visita</a:t>
            </a:r>
            <a:endParaRPr lang="en-US" sz="1050" dirty="0"/>
          </a:p>
        </p:txBody>
      </p:sp>
      <p:sp>
        <p:nvSpPr>
          <p:cNvPr id="71" name="Text 33"/>
          <p:cNvSpPr/>
          <p:nvPr/>
        </p:nvSpPr>
        <p:spPr>
          <a:xfrm>
            <a:off x="881955" y="6334125"/>
            <a:ext cx="205174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 de notificação concluído com sucesso!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2771</Words>
  <Application>Microsoft Office PowerPoint</Application>
  <PresentationFormat>Ecrã Panorâmico</PresentationFormat>
  <Paragraphs>438</Paragraphs>
  <Slides>15</Slides>
  <Notes>15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0" baseType="lpstr">
      <vt:lpstr>Arial</vt:lpstr>
      <vt:lpstr>Fira Code</vt:lpstr>
      <vt:lpstr>Roboto</vt:lpstr>
      <vt:lpstr>ui-monospace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Fábio André Bidarra Horta</cp:lastModifiedBy>
  <cp:revision>7</cp:revision>
  <dcterms:created xsi:type="dcterms:W3CDTF">2025-11-11T01:51:21Z</dcterms:created>
  <dcterms:modified xsi:type="dcterms:W3CDTF">2025-11-12T01:53:59Z</dcterms:modified>
</cp:coreProperties>
</file>